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7" r:id="rId4"/>
    <p:sldId id="258" r:id="rId5"/>
    <p:sldId id="259" r:id="rId6"/>
    <p:sldId id="260" r:id="rId7"/>
    <p:sldId id="261" r:id="rId8"/>
    <p:sldId id="262" r:id="rId9"/>
    <p:sldId id="263" r:id="rId10"/>
    <p:sldId id="264" r:id="rId11"/>
    <p:sldId id="265" r:id="rId12"/>
    <p:sldId id="266" r:id="rId13"/>
    <p:sldId id="267" r:id="rId14"/>
    <p:sldId id="277" r:id="rId15"/>
    <p:sldId id="269" r:id="rId16"/>
    <p:sldId id="270" r:id="rId17"/>
    <p:sldId id="271" r:id="rId18"/>
    <p:sldId id="274" r:id="rId19"/>
    <p:sldId id="282" r:id="rId20"/>
    <p:sldId id="283" r:id="rId21"/>
    <p:sldId id="284"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0" d="100"/>
          <a:sy n="70" d="100"/>
        </p:scale>
        <p:origin x="1166"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5CC4C-BB0B-01B3-DA1A-91389607E4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573BE5F-26D9-8A2C-501F-C32646A0FA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70B7E1-6D1C-B3BD-D8CD-F24C36DF9561}"/>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5" name="Footer Placeholder 4">
            <a:extLst>
              <a:ext uri="{FF2B5EF4-FFF2-40B4-BE49-F238E27FC236}">
                <a16:creationId xmlns:a16="http://schemas.microsoft.com/office/drawing/2014/main" id="{B9FD0DC7-7E59-5556-1CA5-F12656A34B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643D3A-A3CF-C6F5-AB53-02CC9D782ED9}"/>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43123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64D1-F833-1351-1C37-CDCCD0E9C7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74DC3B-01A6-85BE-393D-7CA659CCBC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86C22-1C8D-6BE1-42AA-F7FCF5AFE5C3}"/>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5" name="Footer Placeholder 4">
            <a:extLst>
              <a:ext uri="{FF2B5EF4-FFF2-40B4-BE49-F238E27FC236}">
                <a16:creationId xmlns:a16="http://schemas.microsoft.com/office/drawing/2014/main" id="{0D996411-88DC-4B20-2E9D-5715ED8A50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897A28-7813-DD8C-9A29-DD21322E4C3B}"/>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470425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1E914-3999-45D1-77A3-DC6F513DE2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5A39BC-6604-150A-565B-FE0DB1651E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B6FB22-4F0C-AAB7-9142-1ECF6B4DB1C8}"/>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5" name="Footer Placeholder 4">
            <a:extLst>
              <a:ext uri="{FF2B5EF4-FFF2-40B4-BE49-F238E27FC236}">
                <a16:creationId xmlns:a16="http://schemas.microsoft.com/office/drawing/2014/main" id="{1129A12A-EA3C-AAF6-6411-E6C47ED692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1128A-9538-EED3-F69C-00007573F450}"/>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1051502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277A3-9C24-4B28-2074-0B53DA2784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3B6337-F36A-7859-68B0-C045835D09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6D9B6B-7BE8-448C-9079-346D0D1B53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D598B5-2A36-60F6-B459-04A0FCBB8EAD}"/>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6" name="Footer Placeholder 5">
            <a:extLst>
              <a:ext uri="{FF2B5EF4-FFF2-40B4-BE49-F238E27FC236}">
                <a16:creationId xmlns:a16="http://schemas.microsoft.com/office/drawing/2014/main" id="{0B4EF376-AACF-1093-7324-39CBEA6578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335FE3-6C3D-F349-09E6-04B57B71C558}"/>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99490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BF917-F205-AD75-E9E6-FE7F15D44E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ED7885-1B91-EBBC-9BE1-785E06AE91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CCBD83-20BF-39E8-ED8A-22EB0CF3F5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0DFDFE-0024-339F-AD76-E462E6356E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5A8A0B-5018-403C-473E-FCA4CC2D22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72979A-40D2-CEC5-8A4D-F6FA7F9F8423}"/>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8" name="Footer Placeholder 7">
            <a:extLst>
              <a:ext uri="{FF2B5EF4-FFF2-40B4-BE49-F238E27FC236}">
                <a16:creationId xmlns:a16="http://schemas.microsoft.com/office/drawing/2014/main" id="{9B831530-B741-DADD-A78C-92E8149BC0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676ECF-0D3E-F553-D863-CAE45532FC14}"/>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3115142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9AD70-46F1-7BEB-F946-0B820C1DFA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47D9D3-FC1E-1A28-7CE8-6FE2CD5BC66C}"/>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4" name="Footer Placeholder 3">
            <a:extLst>
              <a:ext uri="{FF2B5EF4-FFF2-40B4-BE49-F238E27FC236}">
                <a16:creationId xmlns:a16="http://schemas.microsoft.com/office/drawing/2014/main" id="{BE2C0131-E4CC-6A2B-2E09-16EA54EA28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083E35C-CFAB-4D5B-3A4F-E4C17B31644E}"/>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3282733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D72F94-4F17-0487-245F-80336D2598E7}"/>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3" name="Footer Placeholder 2">
            <a:extLst>
              <a:ext uri="{FF2B5EF4-FFF2-40B4-BE49-F238E27FC236}">
                <a16:creationId xmlns:a16="http://schemas.microsoft.com/office/drawing/2014/main" id="{79F8B234-E829-DF46-2700-952D891889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84E1F9-B5F8-1D2E-20B1-70167197C35C}"/>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2581515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FB4E5-C242-F556-2B7C-49A6AD94DA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80224E-90A0-B959-A69E-E151ACB0A1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21717D-8BC5-CFDF-B67D-6718CFE97A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0C49DA-E0D0-F9D8-911E-DC401D5C115F}"/>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6" name="Footer Placeholder 5">
            <a:extLst>
              <a:ext uri="{FF2B5EF4-FFF2-40B4-BE49-F238E27FC236}">
                <a16:creationId xmlns:a16="http://schemas.microsoft.com/office/drawing/2014/main" id="{945AF1E1-18DE-D5CA-6781-4F239911DB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4C5BF-3D06-2D4D-2503-D8356CECAF0A}"/>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1032652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DCC97-708D-B1B1-E266-6B60FDA897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7E0AC6-9ACF-FBB3-BC41-F1CBB132DF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DB6391-2268-1888-68BC-9E6991D45E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B78688-8D4C-2F82-8531-EF0A90A5ED73}"/>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6" name="Footer Placeholder 5">
            <a:extLst>
              <a:ext uri="{FF2B5EF4-FFF2-40B4-BE49-F238E27FC236}">
                <a16:creationId xmlns:a16="http://schemas.microsoft.com/office/drawing/2014/main" id="{A30DFD5E-2D32-399C-8368-78028A904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67A5AB-BE8A-788E-48D5-9CAE42E43592}"/>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974391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BD0BE-E53D-B84E-F3A0-87D915BFCDE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442BE3-E7B6-133A-3CE4-43D2B68059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6FB328-34E5-9727-9929-5F2EAE7766B7}"/>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5" name="Footer Placeholder 4">
            <a:extLst>
              <a:ext uri="{FF2B5EF4-FFF2-40B4-BE49-F238E27FC236}">
                <a16:creationId xmlns:a16="http://schemas.microsoft.com/office/drawing/2014/main" id="{1791B139-5D93-C682-6633-0B5A0DCC66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D051DA-4DC2-D817-972F-57F9F836CDFD}"/>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3482216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0B42E3-4D03-81A3-610A-88802B8B06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547E83-D6E6-ABC5-EF7F-08ADF808F7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98232-2955-F418-DA45-6ED00525A2C5}"/>
              </a:ext>
            </a:extLst>
          </p:cNvPr>
          <p:cNvSpPr>
            <a:spLocks noGrp="1"/>
          </p:cNvSpPr>
          <p:nvPr>
            <p:ph type="dt" sz="half" idx="10"/>
          </p:nvPr>
        </p:nvSpPr>
        <p:spPr/>
        <p:txBody>
          <a:bodyPr/>
          <a:lstStyle/>
          <a:p>
            <a:fld id="{91A475EB-5983-442E-92EC-75EE6530C6CF}" type="datetimeFigureOut">
              <a:rPr lang="en-US" smtClean="0"/>
              <a:t>1/29/2026</a:t>
            </a:fld>
            <a:endParaRPr lang="en-US"/>
          </a:p>
        </p:txBody>
      </p:sp>
      <p:sp>
        <p:nvSpPr>
          <p:cNvPr id="5" name="Footer Placeholder 4">
            <a:extLst>
              <a:ext uri="{FF2B5EF4-FFF2-40B4-BE49-F238E27FC236}">
                <a16:creationId xmlns:a16="http://schemas.microsoft.com/office/drawing/2014/main" id="{249670A5-C168-9F80-2A49-C3025A7A2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CC8DF0-A5DC-561B-1630-2F23DC3B6715}"/>
              </a:ext>
            </a:extLst>
          </p:cNvPr>
          <p:cNvSpPr>
            <a:spLocks noGrp="1"/>
          </p:cNvSpPr>
          <p:nvPr>
            <p:ph type="sldNum" sz="quarter" idx="12"/>
          </p:nvPr>
        </p:nvSpPr>
        <p:spPr/>
        <p:txBody>
          <a:bodyPr/>
          <a:lstStyle/>
          <a:p>
            <a:fld id="{F9BFE12D-80BF-4A9B-B64F-04BAFB9744B6}" type="slidenum">
              <a:rPr lang="en-US" smtClean="0"/>
              <a:t>‹#›</a:t>
            </a:fld>
            <a:endParaRPr lang="en-US"/>
          </a:p>
        </p:txBody>
      </p:sp>
    </p:spTree>
    <p:extLst>
      <p:ext uri="{BB962C8B-B14F-4D97-AF65-F5344CB8AC3E}">
        <p14:creationId xmlns:p14="http://schemas.microsoft.com/office/powerpoint/2010/main" val="1431610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CE3DCA-9432-6320-9F53-0D6091E83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17B703-D711-69D9-2C08-BED810B146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85A1B-2BB2-0E9E-FA67-A505CD7D05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1A475EB-5983-442E-92EC-75EE6530C6CF}" type="datetimeFigureOut">
              <a:rPr lang="en-US" smtClean="0"/>
              <a:t>1/29/2026</a:t>
            </a:fld>
            <a:endParaRPr lang="en-US"/>
          </a:p>
        </p:txBody>
      </p:sp>
      <p:sp>
        <p:nvSpPr>
          <p:cNvPr id="5" name="Footer Placeholder 4">
            <a:extLst>
              <a:ext uri="{FF2B5EF4-FFF2-40B4-BE49-F238E27FC236}">
                <a16:creationId xmlns:a16="http://schemas.microsoft.com/office/drawing/2014/main" id="{3BAF3426-D63F-190E-12CA-0CF90D30FB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5A56216-AB8F-DCA7-4FC0-8BAF0CE14C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BFE12D-80BF-4A9B-B64F-04BAFB9744B6}" type="slidenum">
              <a:rPr lang="en-US" smtClean="0"/>
              <a:t>‹#›</a:t>
            </a:fld>
            <a:endParaRPr lang="en-US"/>
          </a:p>
        </p:txBody>
      </p:sp>
    </p:spTree>
    <p:extLst>
      <p:ext uri="{BB962C8B-B14F-4D97-AF65-F5344CB8AC3E}">
        <p14:creationId xmlns:p14="http://schemas.microsoft.com/office/powerpoint/2010/main" val="26848174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Colorful carved figures of humans">
            <a:extLst>
              <a:ext uri="{FF2B5EF4-FFF2-40B4-BE49-F238E27FC236}">
                <a16:creationId xmlns:a16="http://schemas.microsoft.com/office/drawing/2014/main" id="{B0DFFFC5-5636-49B4-CFC6-A8396C51E3BC}"/>
              </a:ext>
            </a:extLst>
          </p:cNvPr>
          <p:cNvPicPr>
            <a:picLocks noChangeAspect="1"/>
          </p:cNvPicPr>
          <p:nvPr/>
        </p:nvPicPr>
        <p:blipFill>
          <a:blip r:embed="rId2">
            <a:alphaModFix amt="60000"/>
          </a:blip>
          <a:srcRect t="21053"/>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B1094B22-3957-CEFA-7FEE-646628CE4AD6}"/>
              </a:ext>
            </a:extLst>
          </p:cNvPr>
          <p:cNvSpPr>
            <a:spLocks noGrp="1"/>
          </p:cNvSpPr>
          <p:nvPr>
            <p:ph type="ctrTitle"/>
          </p:nvPr>
        </p:nvSpPr>
        <p:spPr>
          <a:xfrm>
            <a:off x="838200" y="914402"/>
            <a:ext cx="10515600" cy="2985923"/>
          </a:xfrm>
        </p:spPr>
        <p:txBody>
          <a:bodyPr>
            <a:normAutofit/>
          </a:bodyPr>
          <a:lstStyle/>
          <a:p>
            <a:r>
              <a:rPr lang="en-US" sz="5200">
                <a:solidFill>
                  <a:srgbClr val="FFFFFF"/>
                </a:solidFill>
              </a:rPr>
              <a:t>Group 1</a:t>
            </a:r>
          </a:p>
        </p:txBody>
      </p:sp>
      <p:sp>
        <p:nvSpPr>
          <p:cNvPr id="3" name="Subtitle 2">
            <a:extLst>
              <a:ext uri="{FF2B5EF4-FFF2-40B4-BE49-F238E27FC236}">
                <a16:creationId xmlns:a16="http://schemas.microsoft.com/office/drawing/2014/main" id="{9CA4F104-7533-0E0E-A612-17071CC29CE6}"/>
              </a:ext>
            </a:extLst>
          </p:cNvPr>
          <p:cNvSpPr>
            <a:spLocks noGrp="1"/>
          </p:cNvSpPr>
          <p:nvPr>
            <p:ph type="subTitle" idx="1"/>
          </p:nvPr>
        </p:nvSpPr>
        <p:spPr>
          <a:xfrm>
            <a:off x="838200" y="4072040"/>
            <a:ext cx="10515600" cy="1384310"/>
          </a:xfrm>
        </p:spPr>
        <p:txBody>
          <a:bodyPr>
            <a:normAutofit/>
          </a:bodyPr>
          <a:lstStyle/>
          <a:p>
            <a:r>
              <a:rPr lang="en-US">
                <a:solidFill>
                  <a:srgbClr val="FFFFFF"/>
                </a:solidFill>
              </a:rPr>
              <a:t>Capstone Project</a:t>
            </a:r>
          </a:p>
        </p:txBody>
      </p:sp>
    </p:spTree>
    <p:extLst>
      <p:ext uri="{BB962C8B-B14F-4D97-AF65-F5344CB8AC3E}">
        <p14:creationId xmlns:p14="http://schemas.microsoft.com/office/powerpoint/2010/main" val="2225182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DEA2-F4C5-33B8-3BDA-F4894EEC2804}"/>
              </a:ext>
            </a:extLst>
          </p:cNvPr>
          <p:cNvSpPr>
            <a:spLocks noGrp="1"/>
          </p:cNvSpPr>
          <p:nvPr>
            <p:ph type="title"/>
          </p:nvPr>
        </p:nvSpPr>
        <p:spPr/>
        <p:txBody>
          <a:bodyPr/>
          <a:lstStyle/>
          <a:p>
            <a:r>
              <a:rPr lang="en-US" dirty="0"/>
              <a:t>Assignment Brief</a:t>
            </a:r>
          </a:p>
        </p:txBody>
      </p:sp>
      <p:sp>
        <p:nvSpPr>
          <p:cNvPr id="3" name="Content Placeholder 2">
            <a:extLst>
              <a:ext uri="{FF2B5EF4-FFF2-40B4-BE49-F238E27FC236}">
                <a16:creationId xmlns:a16="http://schemas.microsoft.com/office/drawing/2014/main" id="{F75306F6-3C09-4FD8-8DF5-DF2FEC9DA0CD}"/>
              </a:ext>
            </a:extLst>
          </p:cNvPr>
          <p:cNvSpPr>
            <a:spLocks noGrp="1"/>
          </p:cNvSpPr>
          <p:nvPr>
            <p:ph idx="1"/>
          </p:nvPr>
        </p:nvSpPr>
        <p:spPr/>
        <p:txBody>
          <a:bodyPr/>
          <a:lstStyle/>
          <a:p>
            <a:pPr marL="0" indent="0" algn="just">
              <a:buNone/>
            </a:pPr>
            <a:r>
              <a:rPr lang="en-US" dirty="0"/>
              <a:t>Amazon hosts millions of products across multiple categories, each competing for visibility, sales, and customer engagement. Understanding what drives product performance such as pricing, discounts, ratings, and category dynamics is important for sellers and business analysts. In this project, you are required to perform a comprehensive Exploratory Data Analysis (EDA) on the Amazon Product Dataset to uncover hidden patterns, trends, and actionable insights that explain product performance on the platform.</a:t>
            </a:r>
          </a:p>
        </p:txBody>
      </p:sp>
    </p:spTree>
    <p:extLst>
      <p:ext uri="{BB962C8B-B14F-4D97-AF65-F5344CB8AC3E}">
        <p14:creationId xmlns:p14="http://schemas.microsoft.com/office/powerpoint/2010/main" val="4195786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8330C2-D928-D0F5-E828-AED91A1AC644}"/>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dirty="0">
                <a:solidFill>
                  <a:srgbClr val="FFFFFF"/>
                </a:solidFill>
                <a:latin typeface="+mj-lt"/>
                <a:ea typeface="+mj-ea"/>
                <a:cs typeface="+mj-cs"/>
              </a:rPr>
              <a:t>1. Major product categories on Amazon and number of per category</a:t>
            </a:r>
          </a:p>
        </p:txBody>
      </p:sp>
      <p:pic>
        <p:nvPicPr>
          <p:cNvPr id="4" name="Content Placeholder 3">
            <a:extLst>
              <a:ext uri="{FF2B5EF4-FFF2-40B4-BE49-F238E27FC236}">
                <a16:creationId xmlns:a16="http://schemas.microsoft.com/office/drawing/2014/main" id="{C1D388BE-517B-9E37-1C2E-AEC19282E4E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218474" y="1966293"/>
            <a:ext cx="9755051" cy="4452160"/>
          </a:xfrm>
          <a:prstGeom prst="rect">
            <a:avLst/>
          </a:prstGeom>
          <a:noFill/>
        </p:spPr>
      </p:pic>
    </p:spTree>
    <p:extLst>
      <p:ext uri="{BB962C8B-B14F-4D97-AF65-F5344CB8AC3E}">
        <p14:creationId xmlns:p14="http://schemas.microsoft.com/office/powerpoint/2010/main" val="3578751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3E43D8-83E0-BFB6-A973-F45292FA48B2}"/>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2500" kern="1200">
                <a:solidFill>
                  <a:srgbClr val="FFFFFF"/>
                </a:solidFill>
                <a:latin typeface="+mj-lt"/>
                <a:ea typeface="+mj-ea"/>
                <a:cs typeface="+mj-cs"/>
              </a:rPr>
              <a:t>2. Distribution of product prices by category (low-cost, mid-range, or premium)</a:t>
            </a:r>
            <a:br>
              <a:rPr lang="en-US" sz="2500" kern="1200">
                <a:solidFill>
                  <a:srgbClr val="FFFFFF"/>
                </a:solidFill>
                <a:latin typeface="+mj-lt"/>
                <a:ea typeface="+mj-ea"/>
                <a:cs typeface="+mj-cs"/>
              </a:rPr>
            </a:br>
            <a:endParaRPr lang="en-US" sz="2500" kern="1200">
              <a:solidFill>
                <a:srgbClr val="FFFFFF"/>
              </a:solidFill>
              <a:latin typeface="+mj-lt"/>
              <a:ea typeface="+mj-ea"/>
              <a:cs typeface="+mj-cs"/>
            </a:endParaRPr>
          </a:p>
        </p:txBody>
      </p:sp>
      <p:graphicFrame>
        <p:nvGraphicFramePr>
          <p:cNvPr id="4" name="Content Placeholder 3">
            <a:extLst>
              <a:ext uri="{FF2B5EF4-FFF2-40B4-BE49-F238E27FC236}">
                <a16:creationId xmlns:a16="http://schemas.microsoft.com/office/drawing/2014/main" id="{2705DA7B-FB83-C6CF-5C9B-C8206133DE59}"/>
              </a:ext>
            </a:extLst>
          </p:cNvPr>
          <p:cNvGraphicFramePr>
            <a:graphicFrameLocks noGrp="1"/>
          </p:cNvGraphicFramePr>
          <p:nvPr>
            <p:ph idx="1"/>
            <p:extLst>
              <p:ext uri="{D42A27DB-BD31-4B8C-83A1-F6EECF244321}">
                <p14:modId xmlns:p14="http://schemas.microsoft.com/office/powerpoint/2010/main" val="2600205527"/>
              </p:ext>
            </p:extLst>
          </p:nvPr>
        </p:nvGraphicFramePr>
        <p:xfrm>
          <a:off x="6147604" y="1574310"/>
          <a:ext cx="6044394" cy="5283691"/>
        </p:xfrm>
        <a:graphic>
          <a:graphicData uri="http://schemas.openxmlformats.org/drawingml/2006/table">
            <a:tbl>
              <a:tblPr firstRow="1" firstCol="1" bandRow="1">
                <a:tableStyleId>{5C22544A-7EE6-4342-B048-85BDC9FD1C3A}</a:tableStyleId>
              </a:tblPr>
              <a:tblGrid>
                <a:gridCol w="528658">
                  <a:extLst>
                    <a:ext uri="{9D8B030D-6E8A-4147-A177-3AD203B41FA5}">
                      <a16:colId xmlns:a16="http://schemas.microsoft.com/office/drawing/2014/main" val="2786355790"/>
                    </a:ext>
                  </a:extLst>
                </a:gridCol>
                <a:gridCol w="1959513">
                  <a:extLst>
                    <a:ext uri="{9D8B030D-6E8A-4147-A177-3AD203B41FA5}">
                      <a16:colId xmlns:a16="http://schemas.microsoft.com/office/drawing/2014/main" val="917579786"/>
                    </a:ext>
                  </a:extLst>
                </a:gridCol>
                <a:gridCol w="1533774">
                  <a:extLst>
                    <a:ext uri="{9D8B030D-6E8A-4147-A177-3AD203B41FA5}">
                      <a16:colId xmlns:a16="http://schemas.microsoft.com/office/drawing/2014/main" val="1036924149"/>
                    </a:ext>
                  </a:extLst>
                </a:gridCol>
                <a:gridCol w="2022449">
                  <a:extLst>
                    <a:ext uri="{9D8B030D-6E8A-4147-A177-3AD203B41FA5}">
                      <a16:colId xmlns:a16="http://schemas.microsoft.com/office/drawing/2014/main" val="1673351512"/>
                    </a:ext>
                  </a:extLst>
                </a:gridCol>
              </a:tblGrid>
              <a:tr h="2013942">
                <a:tc>
                  <a:txBody>
                    <a:bodyPr/>
                    <a:lstStyle/>
                    <a:p>
                      <a:pPr marL="0" marR="0">
                        <a:lnSpc>
                          <a:spcPct val="115000"/>
                        </a:lnSpc>
                        <a:spcAft>
                          <a:spcPts val="800"/>
                        </a:spcAft>
                        <a:buNone/>
                      </a:pPr>
                      <a:r>
                        <a:rPr lang="en-US" sz="3300" kern="0" dirty="0">
                          <a:effectLst/>
                          <a:latin typeface="Times New Roman" panose="02020603050405020304" pitchFamily="18" charset="0"/>
                          <a:cs typeface="Times New Roman" panose="02020603050405020304" pitchFamily="18" charset="0"/>
                        </a:rPr>
                        <a:t>#</a:t>
                      </a:r>
                      <a:endParaRPr lang="en-US" sz="33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3300" kern="0" dirty="0">
                          <a:effectLst/>
                          <a:latin typeface="Times New Roman" panose="02020603050405020304" pitchFamily="18" charset="0"/>
                          <a:cs typeface="Times New Roman" panose="02020603050405020304" pitchFamily="18" charset="0"/>
                        </a:rPr>
                        <a:t>Price category</a:t>
                      </a:r>
                      <a:endParaRPr lang="en-US" sz="33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3300" kern="0" dirty="0">
                          <a:effectLst/>
                          <a:latin typeface="Times New Roman" panose="02020603050405020304" pitchFamily="18" charset="0"/>
                          <a:cs typeface="Times New Roman" panose="02020603050405020304" pitchFamily="18" charset="0"/>
                        </a:rPr>
                        <a:t>Product count</a:t>
                      </a:r>
                      <a:endParaRPr lang="en-US" sz="33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3300" kern="0" dirty="0">
                          <a:effectLst/>
                          <a:latin typeface="Times New Roman" panose="02020603050405020304" pitchFamily="18" charset="0"/>
                          <a:cs typeface="Times New Roman" panose="02020603050405020304" pitchFamily="18" charset="0"/>
                        </a:rPr>
                        <a:t>Percentage share</a:t>
                      </a:r>
                      <a:endParaRPr lang="en-US" sz="33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5726587"/>
                  </a:ext>
                </a:extLst>
              </a:tr>
              <a:tr h="1049159">
                <a:tc>
                  <a:txBody>
                    <a:bodyPr/>
                    <a:lstStyle/>
                    <a:p>
                      <a:pPr marL="0" marR="0" algn="r">
                        <a:lnSpc>
                          <a:spcPct val="115000"/>
                        </a:lnSpc>
                        <a:spcAft>
                          <a:spcPts val="800"/>
                        </a:spcAft>
                        <a:buNone/>
                      </a:pPr>
                      <a:r>
                        <a:rPr lang="en-US" sz="3300" kern="0">
                          <a:effectLst/>
                          <a:latin typeface="Times New Roman" panose="02020603050405020304" pitchFamily="18" charset="0"/>
                          <a:cs typeface="Times New Roman" panose="02020603050405020304" pitchFamily="18" charset="0"/>
                        </a:rPr>
                        <a:t>0</a:t>
                      </a:r>
                      <a:endParaRPr lang="en-US" sz="33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3300" kern="0" dirty="0">
                          <a:effectLst/>
                          <a:latin typeface="Times New Roman" panose="02020603050405020304" pitchFamily="18" charset="0"/>
                          <a:cs typeface="Times New Roman" panose="02020603050405020304" pitchFamily="18" charset="0"/>
                        </a:rPr>
                        <a:t>Low-cost</a:t>
                      </a:r>
                      <a:endParaRPr lang="en-US" sz="33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Aft>
                          <a:spcPts val="800"/>
                        </a:spcAft>
                        <a:buNone/>
                      </a:pPr>
                      <a:endParaRPr lang="en-US" sz="33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Aft>
                          <a:spcPts val="800"/>
                        </a:spcAft>
                        <a:buNone/>
                      </a:pPr>
                      <a:r>
                        <a:rPr lang="en-US" sz="3300" kern="0">
                          <a:effectLst/>
                          <a:latin typeface="Times New Roman" panose="02020603050405020304" pitchFamily="18" charset="0"/>
                          <a:cs typeface="Times New Roman" panose="02020603050405020304" pitchFamily="18" charset="0"/>
                        </a:rPr>
                        <a:t>53.3</a:t>
                      </a:r>
                      <a:endParaRPr lang="en-US" sz="33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0123416"/>
                  </a:ext>
                </a:extLst>
              </a:tr>
              <a:tr h="1171431">
                <a:tc>
                  <a:txBody>
                    <a:bodyPr/>
                    <a:lstStyle/>
                    <a:p>
                      <a:pPr marL="0" marR="0" algn="r">
                        <a:lnSpc>
                          <a:spcPct val="115000"/>
                        </a:lnSpc>
                        <a:spcAft>
                          <a:spcPts val="800"/>
                        </a:spcAft>
                        <a:buNone/>
                      </a:pPr>
                      <a:r>
                        <a:rPr lang="en-US" sz="3300" kern="0" dirty="0">
                          <a:effectLst/>
                          <a:latin typeface="Times New Roman" panose="02020603050405020304" pitchFamily="18" charset="0"/>
                          <a:cs typeface="Times New Roman" panose="02020603050405020304" pitchFamily="18" charset="0"/>
                        </a:rPr>
                        <a:t>1</a:t>
                      </a:r>
                      <a:endParaRPr lang="en-US" sz="33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3300" kern="0">
                          <a:effectLst/>
                          <a:latin typeface="Times New Roman" panose="02020603050405020304" pitchFamily="18" charset="0"/>
                          <a:cs typeface="Times New Roman" panose="02020603050405020304" pitchFamily="18" charset="0"/>
                        </a:rPr>
                        <a:t>Mid-range</a:t>
                      </a:r>
                      <a:endParaRPr lang="en-US" sz="33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Aft>
                          <a:spcPts val="800"/>
                        </a:spcAft>
                        <a:buNone/>
                      </a:pPr>
                      <a:r>
                        <a:rPr lang="en-US" sz="3300" kern="0">
                          <a:effectLst/>
                          <a:latin typeface="Times New Roman" panose="02020603050405020304" pitchFamily="18" charset="0"/>
                          <a:cs typeface="Times New Roman" panose="02020603050405020304" pitchFamily="18" charset="0"/>
                        </a:rPr>
                        <a:t>559105</a:t>
                      </a:r>
                      <a:endParaRPr lang="en-US" sz="33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Aft>
                          <a:spcPts val="800"/>
                        </a:spcAft>
                        <a:buNone/>
                      </a:pPr>
                      <a:r>
                        <a:rPr lang="en-US" sz="3300" kern="0">
                          <a:effectLst/>
                          <a:latin typeface="Times New Roman" panose="02020603050405020304" pitchFamily="18" charset="0"/>
                          <a:cs typeface="Times New Roman" panose="02020603050405020304" pitchFamily="18" charset="0"/>
                        </a:rPr>
                        <a:t>39.2</a:t>
                      </a:r>
                      <a:endParaRPr lang="en-US" sz="33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3877724"/>
                  </a:ext>
                </a:extLst>
              </a:tr>
              <a:tr h="1049159">
                <a:tc>
                  <a:txBody>
                    <a:bodyPr/>
                    <a:lstStyle/>
                    <a:p>
                      <a:pPr marL="0" marR="0" algn="r">
                        <a:lnSpc>
                          <a:spcPct val="115000"/>
                        </a:lnSpc>
                        <a:spcAft>
                          <a:spcPts val="800"/>
                        </a:spcAft>
                        <a:buNone/>
                      </a:pPr>
                      <a:r>
                        <a:rPr lang="en-US" sz="3300" kern="0">
                          <a:effectLst/>
                          <a:latin typeface="Times New Roman" panose="02020603050405020304" pitchFamily="18" charset="0"/>
                          <a:cs typeface="Times New Roman" panose="02020603050405020304" pitchFamily="18" charset="0"/>
                        </a:rPr>
                        <a:t>2</a:t>
                      </a:r>
                      <a:endParaRPr lang="en-US" sz="33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3300" kern="0">
                          <a:effectLst/>
                          <a:latin typeface="Times New Roman" panose="02020603050405020304" pitchFamily="18" charset="0"/>
                          <a:cs typeface="Times New Roman" panose="02020603050405020304" pitchFamily="18" charset="0"/>
                        </a:rPr>
                        <a:t>Premium</a:t>
                      </a:r>
                      <a:endParaRPr lang="en-US" sz="33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Aft>
                          <a:spcPts val="800"/>
                        </a:spcAft>
                        <a:buNone/>
                      </a:pPr>
                      <a:r>
                        <a:rPr lang="en-US" sz="3300" kern="0">
                          <a:effectLst/>
                          <a:latin typeface="Times New Roman" panose="02020603050405020304" pitchFamily="18" charset="0"/>
                          <a:cs typeface="Times New Roman" panose="02020603050405020304" pitchFamily="18" charset="0"/>
                        </a:rPr>
                        <a:t>107181</a:t>
                      </a:r>
                      <a:endParaRPr lang="en-US" sz="33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r">
                        <a:lnSpc>
                          <a:spcPct val="115000"/>
                        </a:lnSpc>
                        <a:spcAft>
                          <a:spcPts val="800"/>
                        </a:spcAft>
                        <a:buNone/>
                      </a:pPr>
                      <a:r>
                        <a:rPr lang="en-US" sz="3300" kern="0" dirty="0">
                          <a:effectLst/>
                          <a:latin typeface="Times New Roman" panose="02020603050405020304" pitchFamily="18" charset="0"/>
                          <a:cs typeface="Times New Roman" panose="02020603050405020304" pitchFamily="18" charset="0"/>
                        </a:rPr>
                        <a:t>7.5</a:t>
                      </a:r>
                      <a:endParaRPr lang="en-US" sz="33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87044" marR="8704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3391669"/>
                  </a:ext>
                </a:extLst>
              </a:tr>
            </a:tbl>
          </a:graphicData>
        </a:graphic>
      </p:graphicFrame>
      <p:pic>
        <p:nvPicPr>
          <p:cNvPr id="1026" name="Picture 2">
            <a:extLst>
              <a:ext uri="{FF2B5EF4-FFF2-40B4-BE49-F238E27FC236}">
                <a16:creationId xmlns:a16="http://schemas.microsoft.com/office/drawing/2014/main" id="{F74751D2-E3C9-DACF-4A7D-CECF5B96BA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41" y="1601725"/>
            <a:ext cx="5981322" cy="5124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8457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66637D-1F4F-A5A2-BF44-32959D40DC2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700" kern="1200">
                <a:solidFill>
                  <a:srgbClr val="FFFFFF"/>
                </a:solidFill>
                <a:latin typeface="+mj-lt"/>
                <a:ea typeface="+mj-ea"/>
                <a:cs typeface="+mj-cs"/>
              </a:rPr>
              <a:t>3. Highest average prices and Cheapest</a:t>
            </a:r>
          </a:p>
        </p:txBody>
      </p:sp>
      <p:sp>
        <p:nvSpPr>
          <p:cNvPr id="5" name="Content Placeholder 4">
            <a:extLst>
              <a:ext uri="{FF2B5EF4-FFF2-40B4-BE49-F238E27FC236}">
                <a16:creationId xmlns:a16="http://schemas.microsoft.com/office/drawing/2014/main" id="{2233542A-962B-C6A8-6023-4E26F59E16CB}"/>
              </a:ext>
            </a:extLst>
          </p:cNvPr>
          <p:cNvSpPr>
            <a:spLocks noGrp="1"/>
          </p:cNvSpPr>
          <p:nvPr>
            <p:ph idx="1"/>
          </p:nvPr>
        </p:nvSpPr>
        <p:spPr/>
        <p:txBody>
          <a:bodyPr/>
          <a:lstStyle/>
          <a:p>
            <a:endParaRPr lang="en-US"/>
          </a:p>
        </p:txBody>
      </p:sp>
      <p:pic>
        <p:nvPicPr>
          <p:cNvPr id="2050" name="Picture 2">
            <a:extLst>
              <a:ext uri="{FF2B5EF4-FFF2-40B4-BE49-F238E27FC236}">
                <a16:creationId xmlns:a16="http://schemas.microsoft.com/office/drawing/2014/main" id="{DA2FE748-F548-664D-DDC3-C68A1C65BE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532836"/>
            <a:ext cx="12320337" cy="53251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429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Flowchart: Document 15">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8ECD42-0CEE-8A88-BE4B-78A0F076855D}"/>
              </a:ext>
            </a:extLst>
          </p:cNvPr>
          <p:cNvSpPr>
            <a:spLocks noGrp="1"/>
          </p:cNvSpPr>
          <p:nvPr>
            <p:ph type="title"/>
          </p:nvPr>
        </p:nvSpPr>
        <p:spPr>
          <a:xfrm>
            <a:off x="509838" y="354218"/>
            <a:ext cx="2840182" cy="2371148"/>
          </a:xfrm>
          <a:prstGeom prst="ellipse">
            <a:avLst/>
          </a:prstGeom>
        </p:spPr>
        <p:txBody>
          <a:bodyPr vert="horz" lIns="91440" tIns="45720" rIns="91440" bIns="45720" rtlCol="0" anchor="ctr">
            <a:normAutofit/>
          </a:bodyPr>
          <a:lstStyle/>
          <a:p>
            <a:r>
              <a:rPr lang="en-US" sz="2500" kern="1200">
                <a:solidFill>
                  <a:srgbClr val="FFFFFF"/>
                </a:solidFill>
                <a:latin typeface="+mj-lt"/>
                <a:ea typeface="+mj-ea"/>
                <a:cs typeface="+mj-cs"/>
              </a:rPr>
              <a:t>4. Customer ratings across product categories</a:t>
            </a:r>
          </a:p>
        </p:txBody>
      </p:sp>
      <p:pic>
        <p:nvPicPr>
          <p:cNvPr id="4" name="Content Placeholder 3">
            <a:extLst>
              <a:ext uri="{FF2B5EF4-FFF2-40B4-BE49-F238E27FC236}">
                <a16:creationId xmlns:a16="http://schemas.microsoft.com/office/drawing/2014/main" id="{E3B0F179-1BA2-8812-7019-2D9FD25F0F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014536" y="-292659"/>
            <a:ext cx="8177464" cy="6990699"/>
          </a:xfrm>
          <a:prstGeom prst="rect">
            <a:avLst/>
          </a:prstGeom>
          <a:noFill/>
        </p:spPr>
      </p:pic>
    </p:spTree>
    <p:extLst>
      <p:ext uri="{BB962C8B-B14F-4D97-AF65-F5344CB8AC3E}">
        <p14:creationId xmlns:p14="http://schemas.microsoft.com/office/powerpoint/2010/main" val="36046046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85B28F-18B3-BEE3-E423-A5E596A1D18A}"/>
              </a:ext>
            </a:extLst>
          </p:cNvPr>
          <p:cNvSpPr>
            <a:spLocks noGrp="1"/>
          </p:cNvSpPr>
          <p:nvPr>
            <p:ph type="title"/>
          </p:nvPr>
        </p:nvSpPr>
        <p:spPr>
          <a:xfrm>
            <a:off x="630936" y="639520"/>
            <a:ext cx="3429000" cy="1719072"/>
          </a:xfrm>
        </p:spPr>
        <p:txBody>
          <a:bodyPr anchor="b">
            <a:normAutofit/>
          </a:bodyPr>
          <a:lstStyle/>
          <a:p>
            <a:r>
              <a:rPr lang="en-US" sz="2600"/>
              <a:t>5. Relationship between product price and customer rating</a:t>
            </a:r>
            <a:endParaRPr lang="en-US" sz="2600" dirty="0"/>
          </a:p>
        </p:txBody>
      </p:sp>
      <p:sp>
        <p:nvSpPr>
          <p:cNvPr id="40"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982C173-C557-3883-EA78-2DFA24133FE8}"/>
              </a:ext>
            </a:extLst>
          </p:cNvPr>
          <p:cNvSpPr>
            <a:spLocks noGrp="1"/>
          </p:cNvSpPr>
          <p:nvPr>
            <p:ph idx="1"/>
          </p:nvPr>
        </p:nvSpPr>
        <p:spPr>
          <a:xfrm>
            <a:off x="630936" y="2807208"/>
            <a:ext cx="3429000" cy="3410712"/>
          </a:xfrm>
        </p:spPr>
        <p:txBody>
          <a:bodyPr anchor="t">
            <a:normAutofit/>
          </a:bodyPr>
          <a:lstStyle/>
          <a:p>
            <a:pPr marL="0" indent="0">
              <a:buNone/>
            </a:pPr>
            <a:r>
              <a:rPr lang="en-US" sz="2200"/>
              <a:t>Do expensive products receive better ratings?</a:t>
            </a:r>
          </a:p>
          <a:p>
            <a:r>
              <a:rPr lang="en-US" sz="2200"/>
              <a:t>Correlation between price and rating: -0.08</a:t>
            </a:r>
          </a:p>
          <a:p>
            <a:endParaRPr lang="en-US" sz="2200"/>
          </a:p>
        </p:txBody>
      </p:sp>
      <p:pic>
        <p:nvPicPr>
          <p:cNvPr id="4" name="Picture 3">
            <a:extLst>
              <a:ext uri="{FF2B5EF4-FFF2-40B4-BE49-F238E27FC236}">
                <a16:creationId xmlns:a16="http://schemas.microsoft.com/office/drawing/2014/main" id="{D925ECEA-8007-65FA-6CD5-A991FD518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654296" y="1211179"/>
            <a:ext cx="6903720" cy="4435641"/>
          </a:xfrm>
          <a:prstGeom prst="rect">
            <a:avLst/>
          </a:prstGeom>
          <a:noFill/>
        </p:spPr>
      </p:pic>
    </p:spTree>
    <p:extLst>
      <p:ext uri="{BB962C8B-B14F-4D97-AF65-F5344CB8AC3E}">
        <p14:creationId xmlns:p14="http://schemas.microsoft.com/office/powerpoint/2010/main" val="1350767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FBA46EF-813C-E41A-506F-1C31264DE42F}"/>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6. Effect of discount on customer ratings</a:t>
            </a:r>
          </a:p>
        </p:txBody>
      </p:sp>
      <p:pic>
        <p:nvPicPr>
          <p:cNvPr id="4" name="Content Placeholder 3">
            <a:extLst>
              <a:ext uri="{FF2B5EF4-FFF2-40B4-BE49-F238E27FC236}">
                <a16:creationId xmlns:a16="http://schemas.microsoft.com/office/drawing/2014/main" id="{FDC8F0C3-CB55-D48C-E8B8-C946B0D3C2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4495807" y="310351"/>
            <a:ext cx="7225748" cy="4913509"/>
          </a:xfrm>
          <a:prstGeom prst="rect">
            <a:avLst/>
          </a:prstGeom>
          <a:noFill/>
        </p:spPr>
      </p:pic>
    </p:spTree>
    <p:extLst>
      <p:ext uri="{BB962C8B-B14F-4D97-AF65-F5344CB8AC3E}">
        <p14:creationId xmlns:p14="http://schemas.microsoft.com/office/powerpoint/2010/main" val="3918529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Rectangle 3077">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0" name="Rectangle 3079">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82" name="Group 3081">
            <a:extLst>
              <a:ext uri="{FF2B5EF4-FFF2-40B4-BE49-F238E27FC236}">
                <a16:creationId xmlns:a16="http://schemas.microsoft.com/office/drawing/2014/main" id="{B352BBB9-69A8-405C-9209-A9FE217AED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3083" name="Oval 3082">
              <a:extLst>
                <a:ext uri="{FF2B5EF4-FFF2-40B4-BE49-F238E27FC236}">
                  <a16:creationId xmlns:a16="http://schemas.microsoft.com/office/drawing/2014/main" id="{2BA8247A-9874-4F57-82F4-AEB016E66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4" name="Oval 3083">
              <a:extLst>
                <a:ext uri="{FF2B5EF4-FFF2-40B4-BE49-F238E27FC236}">
                  <a16:creationId xmlns:a16="http://schemas.microsoft.com/office/drawing/2014/main" id="{A30C3CE4-8479-4B6E-9C21-D7B0CD89E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Oval 3084">
              <a:extLst>
                <a:ext uri="{FF2B5EF4-FFF2-40B4-BE49-F238E27FC236}">
                  <a16:creationId xmlns:a16="http://schemas.microsoft.com/office/drawing/2014/main" id="{F7BCD297-22FC-4ECD-95DC-8581D5E6B1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6" name="Oval 3085">
              <a:extLst>
                <a:ext uri="{FF2B5EF4-FFF2-40B4-BE49-F238E27FC236}">
                  <a16:creationId xmlns:a16="http://schemas.microsoft.com/office/drawing/2014/main" id="{061A25F1-8873-4D98-B8D5-169EA0AC92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7" name="Oval 3086">
              <a:extLst>
                <a:ext uri="{FF2B5EF4-FFF2-40B4-BE49-F238E27FC236}">
                  <a16:creationId xmlns:a16="http://schemas.microsoft.com/office/drawing/2014/main" id="{CB7BCAD9-3EF1-4FCE-AFA0-BD2C545A7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8" name="Oval 3087">
              <a:extLst>
                <a:ext uri="{FF2B5EF4-FFF2-40B4-BE49-F238E27FC236}">
                  <a16:creationId xmlns:a16="http://schemas.microsoft.com/office/drawing/2014/main" id="{36649524-3638-4334-8ED6-539D10DF4B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04C423C-FFAB-CD45-62FA-0FE71727EDC2}"/>
              </a:ext>
            </a:extLst>
          </p:cNvPr>
          <p:cNvSpPr>
            <a:spLocks noGrp="1"/>
          </p:cNvSpPr>
          <p:nvPr>
            <p:ph type="title"/>
          </p:nvPr>
        </p:nvSpPr>
        <p:spPr>
          <a:xfrm>
            <a:off x="630936" y="684915"/>
            <a:ext cx="4651076" cy="1951075"/>
          </a:xfrm>
          <a:noFill/>
        </p:spPr>
        <p:txBody>
          <a:bodyPr anchor="t">
            <a:normAutofit/>
          </a:bodyPr>
          <a:lstStyle/>
          <a:p>
            <a:r>
              <a:rPr lang="en-US" sz="2600" dirty="0">
                <a:solidFill>
                  <a:schemeClr val="bg1"/>
                </a:solidFill>
              </a:rPr>
              <a:t>7. Products and categories with highest number of reviews and implications on demand? </a:t>
            </a:r>
            <a:br>
              <a:rPr lang="en-US" sz="2600" dirty="0">
                <a:solidFill>
                  <a:schemeClr val="bg1"/>
                </a:solidFill>
              </a:rPr>
            </a:br>
            <a:endParaRPr lang="en-US" sz="2600" dirty="0">
              <a:solidFill>
                <a:schemeClr val="bg1"/>
              </a:solidFill>
            </a:endParaRPr>
          </a:p>
        </p:txBody>
      </p:sp>
      <p:sp>
        <p:nvSpPr>
          <p:cNvPr id="3" name="Content Placeholder 2">
            <a:extLst>
              <a:ext uri="{FF2B5EF4-FFF2-40B4-BE49-F238E27FC236}">
                <a16:creationId xmlns:a16="http://schemas.microsoft.com/office/drawing/2014/main" id="{6952781E-2A8B-1203-6343-C6B55B7222D0}"/>
              </a:ext>
            </a:extLst>
          </p:cNvPr>
          <p:cNvSpPr>
            <a:spLocks noGrp="1"/>
          </p:cNvSpPr>
          <p:nvPr>
            <p:ph idx="1"/>
          </p:nvPr>
        </p:nvSpPr>
        <p:spPr>
          <a:xfrm>
            <a:off x="5486080" y="684921"/>
            <a:ext cx="5674107" cy="1951087"/>
          </a:xfrm>
          <a:noFill/>
        </p:spPr>
        <p:txBody>
          <a:bodyPr anchor="t">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dirty="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Top 10 products</a:t>
            </a:r>
            <a:endParaRPr kumimoji="0" lang="en-US" altLang="en-US" sz="1800" b="0" i="0" u="none" strike="noStrike" cap="none" normalizeH="0" baseline="0" dirty="0">
              <a:ln>
                <a:noFill/>
              </a:ln>
              <a:solidFill>
                <a:schemeClr val="bg1"/>
              </a:solidFill>
              <a:effectLst/>
            </a:endParaRP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dirty="0">
              <a:ln>
                <a:noFill/>
              </a:ln>
              <a:solidFill>
                <a:schemeClr val="bg1"/>
              </a:solidFill>
              <a:effectLst/>
              <a:latin typeface="Arial" panose="020B0604020202020204" pitchFamily="34" charset="0"/>
            </a:endParaRPr>
          </a:p>
        </p:txBody>
      </p:sp>
      <p:sp>
        <p:nvSpPr>
          <p:cNvPr id="3090" name="Rectangle 3089">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92" name="Group 3091">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3093" name="Straight Connector 3092">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94" name="Straight Connector 3093">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95" name="Straight Connector 3094">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96" name="Straight Connector 3095">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3098" name="Rectangle 3097">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00" name="Group 3099">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01" name="Straight Connector 3100">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02" name="Straight Connector 3101">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03" name="Straight Connector 3102">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04" name="Straight Connector 3103">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3073" name="Picture 14">
            <a:extLst>
              <a:ext uri="{FF2B5EF4-FFF2-40B4-BE49-F238E27FC236}">
                <a16:creationId xmlns:a16="http://schemas.microsoft.com/office/drawing/2014/main" id="{520A9EC0-C0F5-EFE3-6AE1-F1AA3391B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49"/>
          <a:stretch>
            <a:fillRect/>
          </a:stretch>
        </p:blipFill>
        <p:spPr bwMode="auto">
          <a:xfrm>
            <a:off x="841476" y="2740311"/>
            <a:ext cx="10636225" cy="3496632"/>
          </a:xfrm>
          <a:prstGeom prst="rect">
            <a:avLst/>
          </a:prstGeom>
          <a:noFill/>
          <a:extLst>
            <a:ext uri="{909E8E84-426E-40DD-AFC4-6F175D3DCCD1}">
              <a14:hiddenFill xmlns:a14="http://schemas.microsoft.com/office/drawing/2010/main">
                <a:solidFill>
                  <a:srgbClr val="FFFFFF"/>
                </a:solidFill>
              </a14:hiddenFill>
            </a:ext>
          </a:extLst>
        </p:spPr>
      </p:pic>
      <p:grpSp>
        <p:nvGrpSpPr>
          <p:cNvPr id="3106" name="Group 3105">
            <a:extLst>
              <a:ext uri="{FF2B5EF4-FFF2-40B4-BE49-F238E27FC236}">
                <a16:creationId xmlns:a16="http://schemas.microsoft.com/office/drawing/2014/main" id="{AF19A774-30A5-488B-9BAF-629C644029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2" y="2852760"/>
            <a:ext cx="304800" cy="429768"/>
            <a:chOff x="215328" y="-46937"/>
            <a:chExt cx="304800" cy="2773841"/>
          </a:xfrm>
        </p:grpSpPr>
        <p:cxnSp>
          <p:nvCxnSpPr>
            <p:cNvPr id="3107" name="Straight Connector 3106">
              <a:extLst>
                <a:ext uri="{FF2B5EF4-FFF2-40B4-BE49-F238E27FC236}">
                  <a16:creationId xmlns:a16="http://schemas.microsoft.com/office/drawing/2014/main" id="{291EBF88-5B98-4258-A542-14C3AF2E52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08" name="Straight Connector 3107">
              <a:extLst>
                <a:ext uri="{FF2B5EF4-FFF2-40B4-BE49-F238E27FC236}">
                  <a16:creationId xmlns:a16="http://schemas.microsoft.com/office/drawing/2014/main" id="{8FBC2D58-9E3C-490D-BD7A-61EF07EA79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09" name="Straight Connector 3108">
              <a:extLst>
                <a:ext uri="{FF2B5EF4-FFF2-40B4-BE49-F238E27FC236}">
                  <a16:creationId xmlns:a16="http://schemas.microsoft.com/office/drawing/2014/main" id="{B6CF1BB4-1C1D-4EDE-BA26-0243FCF83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10" name="Straight Connector 3109">
              <a:extLst>
                <a:ext uri="{FF2B5EF4-FFF2-40B4-BE49-F238E27FC236}">
                  <a16:creationId xmlns:a16="http://schemas.microsoft.com/office/drawing/2014/main" id="{00C83729-E02F-4512-AFE7-F4792228BD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4965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9CB8F4-352C-BD93-E7D1-044D7733A935}"/>
            </a:ext>
          </a:extLst>
        </p:cNvPr>
        <p:cNvGrpSpPr/>
        <p:nvPr/>
      </p:nvGrpSpPr>
      <p:grpSpPr>
        <a:xfrm>
          <a:off x="0" y="0"/>
          <a:ext cx="0" cy="0"/>
          <a:chOff x="0" y="0"/>
          <a:chExt cx="0" cy="0"/>
        </a:xfrm>
      </p:grpSpPr>
      <p:sp useBgFill="1">
        <p:nvSpPr>
          <p:cNvPr id="4107" name="Rectangle 4106">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02EBFA83-D4DB-4CA0-B229-9E44634D7F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106" name="Picture 4105">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4108" name="Rectangle 4107">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0" name="Rectangle 4109">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3166DC7C-0152-D33B-1544-E925994FD91A}"/>
              </a:ext>
            </a:extLst>
          </p:cNvPr>
          <p:cNvSpPr>
            <a:spLocks noGrp="1"/>
          </p:cNvSpPr>
          <p:nvPr>
            <p:ph type="title"/>
          </p:nvPr>
        </p:nvSpPr>
        <p:spPr>
          <a:xfrm>
            <a:off x="6597016" y="905011"/>
            <a:ext cx="4589328" cy="1889135"/>
          </a:xfrm>
        </p:spPr>
        <p:txBody>
          <a:bodyPr vert="horz" lIns="91440" tIns="45720" rIns="91440" bIns="45720" rtlCol="0" anchor="b">
            <a:normAutofit/>
          </a:bodyPr>
          <a:lstStyle/>
          <a:p>
            <a:r>
              <a:rPr lang="en-US" sz="2600" kern="1200">
                <a:solidFill>
                  <a:schemeClr val="tx1"/>
                </a:solidFill>
                <a:latin typeface="+mj-lt"/>
                <a:ea typeface="+mj-ea"/>
                <a:cs typeface="+mj-cs"/>
              </a:rPr>
              <a:t>7. Products and categories with highest number of reviews and implications on demand? </a:t>
            </a:r>
            <a:br>
              <a:rPr lang="en-US" sz="2600" kern="1200">
                <a:solidFill>
                  <a:schemeClr val="tx1"/>
                </a:solidFill>
                <a:latin typeface="+mj-lt"/>
                <a:ea typeface="+mj-ea"/>
                <a:cs typeface="+mj-cs"/>
              </a:rPr>
            </a:br>
            <a:endParaRPr lang="en-US" sz="2600" kern="1200">
              <a:solidFill>
                <a:schemeClr val="tx1"/>
              </a:solidFill>
              <a:latin typeface="+mj-lt"/>
              <a:ea typeface="+mj-ea"/>
              <a:cs typeface="+mj-cs"/>
            </a:endParaRPr>
          </a:p>
        </p:txBody>
      </p:sp>
      <p:pic>
        <p:nvPicPr>
          <p:cNvPr id="4097" name="Picture 10">
            <a:extLst>
              <a:ext uri="{FF2B5EF4-FFF2-40B4-BE49-F238E27FC236}">
                <a16:creationId xmlns:a16="http://schemas.microsoft.com/office/drawing/2014/main" id="{89B7D5E9-DEE5-AE7A-4B0F-0C51B448C27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20807" y="1996014"/>
            <a:ext cx="5468347" cy="285721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C4BD4BA7-2C43-BF58-F79B-78BF3F363E09}"/>
              </a:ext>
            </a:extLst>
          </p:cNvPr>
          <p:cNvSpPr>
            <a:spLocks noChangeArrowheads="1"/>
          </p:cNvSpPr>
          <p:nvPr/>
        </p:nvSpPr>
        <p:spPr bwMode="auto">
          <a:xfrm>
            <a:off x="6597016" y="2965592"/>
            <a:ext cx="4589328" cy="298739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b="0" i="0" u="none" strike="noStrike" cap="none" normalizeH="0" baseline="0">
                <a:ln>
                  <a:noFill/>
                </a:ln>
                <a:effectLst/>
              </a:rPr>
              <a:t>Top 10 Categories</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b="0" i="0" u="none" strike="noStrike" cap="none" normalizeH="0" baseline="0">
              <a:ln>
                <a:noFill/>
              </a:ln>
              <a:effectLst/>
            </a:endParaRPr>
          </a:p>
        </p:txBody>
      </p:sp>
    </p:spTree>
    <p:extLst>
      <p:ext uri="{BB962C8B-B14F-4D97-AF65-F5344CB8AC3E}">
        <p14:creationId xmlns:p14="http://schemas.microsoft.com/office/powerpoint/2010/main" val="7687711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6" name="Rectangle 5125">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8" name="Rectangle 5127">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30" name="Group 5129">
            <a:extLst>
              <a:ext uri="{FF2B5EF4-FFF2-40B4-BE49-F238E27FC236}">
                <a16:creationId xmlns:a16="http://schemas.microsoft.com/office/drawing/2014/main" id="{74E65F23-789E-4CB9-B34F-46A85E25D6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5131" name="Oval 5130">
              <a:extLst>
                <a:ext uri="{FF2B5EF4-FFF2-40B4-BE49-F238E27FC236}">
                  <a16:creationId xmlns:a16="http://schemas.microsoft.com/office/drawing/2014/main" id="{1CA207F7-3B67-4EA2-8EC5-1260B55A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2" name="Oval 5131">
              <a:extLst>
                <a:ext uri="{FF2B5EF4-FFF2-40B4-BE49-F238E27FC236}">
                  <a16:creationId xmlns:a16="http://schemas.microsoft.com/office/drawing/2014/main" id="{AD4CC450-51C3-4A41-B2B1-68A15D57C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Oval 5132">
              <a:extLst>
                <a:ext uri="{FF2B5EF4-FFF2-40B4-BE49-F238E27FC236}">
                  <a16:creationId xmlns:a16="http://schemas.microsoft.com/office/drawing/2014/main" id="{ED62506D-F8E8-4C55-B160-D4FE89850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4" name="Oval 5133">
              <a:extLst>
                <a:ext uri="{FF2B5EF4-FFF2-40B4-BE49-F238E27FC236}">
                  <a16:creationId xmlns:a16="http://schemas.microsoft.com/office/drawing/2014/main" id="{E6004793-0083-43B9-81A2-20F71D2C7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5" name="Oval 5134">
              <a:extLst>
                <a:ext uri="{FF2B5EF4-FFF2-40B4-BE49-F238E27FC236}">
                  <a16:creationId xmlns:a16="http://schemas.microsoft.com/office/drawing/2014/main" id="{53D192AA-AFCB-470F-B66A-18815C352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6" name="Oval 5135">
              <a:extLst>
                <a:ext uri="{FF2B5EF4-FFF2-40B4-BE49-F238E27FC236}">
                  <a16:creationId xmlns:a16="http://schemas.microsoft.com/office/drawing/2014/main" id="{9079B0CF-0B4C-42A9-9769-3AC0A34FA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031EFF9-D20F-311B-E004-A208D6C842BA}"/>
              </a:ext>
            </a:extLst>
          </p:cNvPr>
          <p:cNvSpPr>
            <a:spLocks noGrp="1"/>
          </p:cNvSpPr>
          <p:nvPr>
            <p:ph type="title"/>
          </p:nvPr>
        </p:nvSpPr>
        <p:spPr>
          <a:xfrm>
            <a:off x="630936" y="630936"/>
            <a:ext cx="5260992" cy="2096756"/>
          </a:xfrm>
          <a:noFill/>
        </p:spPr>
        <p:txBody>
          <a:bodyPr anchor="t">
            <a:normAutofit/>
          </a:bodyPr>
          <a:lstStyle/>
          <a:p>
            <a:r>
              <a:rPr lang="en-US" dirty="0">
                <a:solidFill>
                  <a:schemeClr val="bg1"/>
                </a:solidFill>
              </a:rPr>
              <a:t>8. Review and Prices of high rated products</a:t>
            </a:r>
            <a:br>
              <a:rPr lang="en-US" dirty="0">
                <a:solidFill>
                  <a:schemeClr val="bg1"/>
                </a:solidFill>
              </a:rPr>
            </a:br>
            <a:endParaRPr lang="en-US" dirty="0">
              <a:solidFill>
                <a:schemeClr val="bg1"/>
              </a:solidFill>
            </a:endParaRPr>
          </a:p>
        </p:txBody>
      </p:sp>
      <p:sp>
        <p:nvSpPr>
          <p:cNvPr id="3" name="Content Placeholder 2">
            <a:extLst>
              <a:ext uri="{FF2B5EF4-FFF2-40B4-BE49-F238E27FC236}">
                <a16:creationId xmlns:a16="http://schemas.microsoft.com/office/drawing/2014/main" id="{F4A978D8-2D03-F0FF-1E68-11D9B4CE8FD0}"/>
              </a:ext>
            </a:extLst>
          </p:cNvPr>
          <p:cNvSpPr>
            <a:spLocks noGrp="1"/>
          </p:cNvSpPr>
          <p:nvPr>
            <p:ph idx="1"/>
          </p:nvPr>
        </p:nvSpPr>
        <p:spPr>
          <a:xfrm>
            <a:off x="6095996" y="630936"/>
            <a:ext cx="5064191" cy="2096769"/>
          </a:xfrm>
          <a:noFill/>
        </p:spPr>
        <p:txBody>
          <a:bodyPr anchor="t">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High rating, low reviews</a:t>
            </a:r>
            <a:endParaRPr kumimoji="0" lang="en-US" altLang="en-US" sz="1800" b="0" i="0" u="none" strike="noStrike" cap="none" normalizeH="0" baseline="0">
              <a:ln>
                <a:noFill/>
              </a:ln>
              <a:solidFill>
                <a:schemeClr val="bg1"/>
              </a:solidFill>
              <a:effectLst/>
            </a:endParaRP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5138" name="Rectangle 5137">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40" name="Group 5139">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141" name="Straight Connector 5140">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42" name="Straight Connector 5141">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43" name="Straight Connector 5142">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44" name="Straight Connector 5143">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5146" name="Rectangle 5145">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48" name="Group 5147">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5149" name="Straight Connector 5148">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50" name="Straight Connector 5149">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51" name="Straight Connector 5150">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152" name="Straight Connector 5151">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121" name="Picture 16">
            <a:extLst>
              <a:ext uri="{FF2B5EF4-FFF2-40B4-BE49-F238E27FC236}">
                <a16:creationId xmlns:a16="http://schemas.microsoft.com/office/drawing/2014/main" id="{C26001E2-D1C6-0D4C-2088-4D29E9958CC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1359" y="2995696"/>
            <a:ext cx="10843065" cy="3045676"/>
          </a:xfrm>
          <a:prstGeom prst="rect">
            <a:avLst/>
          </a:prstGeom>
          <a:noFill/>
          <a:extLst>
            <a:ext uri="{909E8E84-426E-40DD-AFC4-6F175D3DCCD1}">
              <a14:hiddenFill xmlns:a14="http://schemas.microsoft.com/office/drawing/2010/main">
                <a:solidFill>
                  <a:srgbClr val="FFFFFF"/>
                </a:solidFill>
              </a14:hiddenFill>
            </a:ext>
          </a:extLst>
        </p:spPr>
      </p:pic>
      <p:grpSp>
        <p:nvGrpSpPr>
          <p:cNvPr id="5154" name="Group 5153">
            <a:extLst>
              <a:ext uri="{FF2B5EF4-FFF2-40B4-BE49-F238E27FC236}">
                <a16:creationId xmlns:a16="http://schemas.microsoft.com/office/drawing/2014/main" id="{4043ADFC-DC2E-40D2-954D-4A13B908D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5155" name="Straight Connector 5154">
              <a:extLst>
                <a:ext uri="{FF2B5EF4-FFF2-40B4-BE49-F238E27FC236}">
                  <a16:creationId xmlns:a16="http://schemas.microsoft.com/office/drawing/2014/main" id="{C975E7D3-10F5-4E53-902F-9E79C98C22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56" name="Straight Connector 5155">
              <a:extLst>
                <a:ext uri="{FF2B5EF4-FFF2-40B4-BE49-F238E27FC236}">
                  <a16:creationId xmlns:a16="http://schemas.microsoft.com/office/drawing/2014/main" id="{BDC51AAB-5A3B-4730-B8AC-46C96AC0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57" name="Straight Connector 5156">
              <a:extLst>
                <a:ext uri="{FF2B5EF4-FFF2-40B4-BE49-F238E27FC236}">
                  <a16:creationId xmlns:a16="http://schemas.microsoft.com/office/drawing/2014/main" id="{03A6F2D9-1476-4E35-988D-D4CCB15C8D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58" name="Straight Connector 5157">
              <a:extLst>
                <a:ext uri="{FF2B5EF4-FFF2-40B4-BE49-F238E27FC236}">
                  <a16:creationId xmlns:a16="http://schemas.microsoft.com/office/drawing/2014/main" id="{CE17F678-D5C6-49BF-933D-1E65F69B32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7597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8" name="Rectangle 6157">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9092198D-27C7-F775-159B-7D2E86E90C51}"/>
              </a:ext>
            </a:extLst>
          </p:cNvPr>
          <p:cNvSpPr>
            <a:spLocks noGrp="1"/>
          </p:cNvSpPr>
          <p:nvPr>
            <p:ph type="title"/>
          </p:nvPr>
        </p:nvSpPr>
        <p:spPr>
          <a:xfrm>
            <a:off x="838201" y="3998018"/>
            <a:ext cx="3981854" cy="2216513"/>
          </a:xfrm>
        </p:spPr>
        <p:txBody>
          <a:bodyPr>
            <a:normAutofit/>
          </a:bodyPr>
          <a:lstStyle/>
          <a:p>
            <a:r>
              <a:rPr lang="en-US" sz="3700"/>
              <a:t>8. Review and Prices of high rated products</a:t>
            </a:r>
            <a:br>
              <a:rPr lang="en-US" sz="3700"/>
            </a:br>
            <a:endParaRPr lang="en-US" sz="3700"/>
          </a:p>
        </p:txBody>
      </p:sp>
      <p:sp>
        <p:nvSpPr>
          <p:cNvPr id="6159" name="Arc 6158">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6145" name="Picture 17">
            <a:extLst>
              <a:ext uri="{FF2B5EF4-FFF2-40B4-BE49-F238E27FC236}">
                <a16:creationId xmlns:a16="http://schemas.microsoft.com/office/drawing/2014/main" id="{B583F5F2-2AA9-8CC4-0126-3E5E043B99D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59914" y="817802"/>
            <a:ext cx="10872172" cy="2730876"/>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a:noFill/>
          <a:extLst>
            <a:ext uri="{909E8E84-426E-40DD-AFC4-6F175D3DCCD1}">
              <a14:hiddenFill xmlns:a14="http://schemas.microsoft.com/office/drawing/2010/main">
                <a:solidFill>
                  <a:srgbClr val="FFFFFF"/>
                </a:solidFill>
              </a14:hiddenFill>
            </a:ext>
          </a:extLst>
        </p:spPr>
      </p:pic>
      <p:sp>
        <p:nvSpPr>
          <p:cNvPr id="6160" name="Content Placeholder 2">
            <a:extLst>
              <a:ext uri="{FF2B5EF4-FFF2-40B4-BE49-F238E27FC236}">
                <a16:creationId xmlns:a16="http://schemas.microsoft.com/office/drawing/2014/main" id="{36F48736-0346-3A81-DE57-FA744D94A919}"/>
              </a:ext>
            </a:extLst>
          </p:cNvPr>
          <p:cNvSpPr>
            <a:spLocks noGrp="1"/>
          </p:cNvSpPr>
          <p:nvPr>
            <p:ph idx="1"/>
          </p:nvPr>
        </p:nvSpPr>
        <p:spPr>
          <a:xfrm>
            <a:off x="4970835" y="3998019"/>
            <a:ext cx="6382966" cy="2216512"/>
          </a:xfrm>
        </p:spPr>
        <p:txBody>
          <a:bodyPr>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0" i="0" u="none" strike="noStrike" cap="none" normalizeH="0" baseline="0">
                <a:ln>
                  <a:noFill/>
                </a:ln>
                <a:effectLst/>
                <a:latin typeface="Aptos" panose="020B0004020202020204" pitchFamily="34" charset="0"/>
                <a:ea typeface="Aptos" panose="020B0004020202020204" pitchFamily="34" charset="0"/>
                <a:cs typeface="Times New Roman" panose="02020603050405020304" pitchFamily="18" charset="0"/>
              </a:rPr>
              <a:t>High reviews, low rating </a:t>
            </a:r>
            <a:endParaRPr kumimoji="0" lang="en-US" altLang="en-US" b="0" i="0" u="none" strike="noStrike" cap="none" normalizeH="0" baseline="0">
              <a:ln>
                <a:noFill/>
              </a:ln>
              <a:effectLst/>
            </a:endParaRP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97856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4" name="Rectangle 7173">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6" name="Rectangle 7175">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78" name="Group 7177">
            <a:extLst>
              <a:ext uri="{FF2B5EF4-FFF2-40B4-BE49-F238E27FC236}">
                <a16:creationId xmlns:a16="http://schemas.microsoft.com/office/drawing/2014/main" id="{74E65F23-789E-4CB9-B34F-46A85E25D66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7179" name="Oval 7178">
              <a:extLst>
                <a:ext uri="{FF2B5EF4-FFF2-40B4-BE49-F238E27FC236}">
                  <a16:creationId xmlns:a16="http://schemas.microsoft.com/office/drawing/2014/main" id="{1CA207F7-3B67-4EA2-8EC5-1260B55A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0" name="Oval 7179">
              <a:extLst>
                <a:ext uri="{FF2B5EF4-FFF2-40B4-BE49-F238E27FC236}">
                  <a16:creationId xmlns:a16="http://schemas.microsoft.com/office/drawing/2014/main" id="{AD4CC450-51C3-4A41-B2B1-68A15D57C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1" name="Oval 7180">
              <a:extLst>
                <a:ext uri="{FF2B5EF4-FFF2-40B4-BE49-F238E27FC236}">
                  <a16:creationId xmlns:a16="http://schemas.microsoft.com/office/drawing/2014/main" id="{ED62506D-F8E8-4C55-B160-D4FE898504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2" name="Oval 7181">
              <a:extLst>
                <a:ext uri="{FF2B5EF4-FFF2-40B4-BE49-F238E27FC236}">
                  <a16:creationId xmlns:a16="http://schemas.microsoft.com/office/drawing/2014/main" id="{E6004793-0083-43B9-81A2-20F71D2C7D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3" name="Oval 7182">
              <a:extLst>
                <a:ext uri="{FF2B5EF4-FFF2-40B4-BE49-F238E27FC236}">
                  <a16:creationId xmlns:a16="http://schemas.microsoft.com/office/drawing/2014/main" id="{53D192AA-AFCB-470F-B66A-18815C3525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4" name="Oval 7183">
              <a:extLst>
                <a:ext uri="{FF2B5EF4-FFF2-40B4-BE49-F238E27FC236}">
                  <a16:creationId xmlns:a16="http://schemas.microsoft.com/office/drawing/2014/main" id="{9079B0CF-0B4C-42A9-9769-3AC0A34FA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25F7A281-BBE0-3463-6B5D-8900E476DD17}"/>
              </a:ext>
            </a:extLst>
          </p:cNvPr>
          <p:cNvSpPr>
            <a:spLocks noGrp="1"/>
          </p:cNvSpPr>
          <p:nvPr>
            <p:ph type="title"/>
          </p:nvPr>
        </p:nvSpPr>
        <p:spPr>
          <a:xfrm>
            <a:off x="630936" y="630936"/>
            <a:ext cx="5260992" cy="2096756"/>
          </a:xfrm>
          <a:noFill/>
        </p:spPr>
        <p:txBody>
          <a:bodyPr anchor="t">
            <a:normAutofit/>
          </a:bodyPr>
          <a:lstStyle/>
          <a:p>
            <a:r>
              <a:rPr lang="en-US" dirty="0">
                <a:solidFill>
                  <a:schemeClr val="bg1"/>
                </a:solidFill>
              </a:rPr>
              <a:t>8. Review and Prices of high rated products</a:t>
            </a:r>
            <a:br>
              <a:rPr lang="en-US" dirty="0">
                <a:solidFill>
                  <a:schemeClr val="bg1"/>
                </a:solidFill>
              </a:rPr>
            </a:br>
            <a:endParaRPr lang="en-US" dirty="0">
              <a:solidFill>
                <a:schemeClr val="bg1"/>
              </a:solidFill>
            </a:endParaRPr>
          </a:p>
        </p:txBody>
      </p:sp>
      <p:sp>
        <p:nvSpPr>
          <p:cNvPr id="3" name="Content Placeholder 2">
            <a:extLst>
              <a:ext uri="{FF2B5EF4-FFF2-40B4-BE49-F238E27FC236}">
                <a16:creationId xmlns:a16="http://schemas.microsoft.com/office/drawing/2014/main" id="{1308CDE7-4A16-36F0-6470-F5D0F2E005B7}"/>
              </a:ext>
            </a:extLst>
          </p:cNvPr>
          <p:cNvSpPr>
            <a:spLocks noGrp="1"/>
          </p:cNvSpPr>
          <p:nvPr>
            <p:ph idx="1"/>
          </p:nvPr>
        </p:nvSpPr>
        <p:spPr>
          <a:xfrm>
            <a:off x="6095996" y="630936"/>
            <a:ext cx="5064191" cy="2096769"/>
          </a:xfrm>
          <a:noFill/>
        </p:spPr>
        <p:txBody>
          <a:bodyPr anchor="t">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800" b="0" i="0" u="none" strike="noStrike" cap="none" normalizeH="0" baseline="0">
                <a:ln>
                  <a:noFill/>
                </a:ln>
                <a:solidFill>
                  <a:schemeClr val="bg1"/>
                </a:solidFill>
                <a:effectLst/>
                <a:latin typeface="Aptos" panose="020B0004020202020204" pitchFamily="34" charset="0"/>
                <a:ea typeface="Aptos" panose="020B0004020202020204" pitchFamily="34" charset="0"/>
                <a:cs typeface="Times New Roman" panose="02020603050405020304" pitchFamily="18" charset="0"/>
              </a:rPr>
              <a:t>High rating, expensive</a:t>
            </a:r>
            <a:endParaRPr kumimoji="0" lang="en-US" altLang="en-US" sz="1800" b="0" i="0" u="none" strike="noStrike" cap="none" normalizeH="0" baseline="0">
              <a:ln>
                <a:noFill/>
              </a:ln>
              <a:solidFill>
                <a:schemeClr val="bg1"/>
              </a:solidFill>
              <a:effectLst/>
            </a:endParaRPr>
          </a:p>
          <a:p>
            <a:pPr marL="0" marR="0" lvl="0" indent="0" defTabSz="914400" rtl="0" eaLnBrk="0" fontAlgn="base" latinLnBrk="0" hangingPunct="0">
              <a:spcBef>
                <a:spcPct val="0"/>
              </a:spcBef>
              <a:spcAft>
                <a:spcPts val="600"/>
              </a:spcAft>
              <a:buClrTx/>
              <a:buSzTx/>
              <a:buFontTx/>
              <a:buNone/>
              <a:tabLst/>
            </a:pP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7186" name="Rectangle 7185">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88" name="Group 7187">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7189" name="Straight Connector 7188">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190" name="Straight Connector 7189">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191" name="Straight Connector 7190">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192" name="Straight Connector 7191">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7194" name="Rectangle 7193">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96" name="Group 7195">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7197" name="Straight Connector 7196">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198" name="Straight Connector 7197">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199" name="Straight Connector 7198">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200" name="Straight Connector 7199">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7169" name="Picture 18">
            <a:extLst>
              <a:ext uri="{FF2B5EF4-FFF2-40B4-BE49-F238E27FC236}">
                <a16:creationId xmlns:a16="http://schemas.microsoft.com/office/drawing/2014/main" id="{40FC3EDD-DA66-D288-78FA-28B3FF96ED9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1359" y="2995696"/>
            <a:ext cx="10843065" cy="3045676"/>
          </a:xfrm>
          <a:prstGeom prst="rect">
            <a:avLst/>
          </a:prstGeom>
          <a:noFill/>
          <a:extLst>
            <a:ext uri="{909E8E84-426E-40DD-AFC4-6F175D3DCCD1}">
              <a14:hiddenFill xmlns:a14="http://schemas.microsoft.com/office/drawing/2010/main">
                <a:solidFill>
                  <a:srgbClr val="FFFFFF"/>
                </a:solidFill>
              </a14:hiddenFill>
            </a:ext>
          </a:extLst>
        </p:spPr>
      </p:pic>
      <p:grpSp>
        <p:nvGrpSpPr>
          <p:cNvPr id="7202" name="Group 7201">
            <a:extLst>
              <a:ext uri="{FF2B5EF4-FFF2-40B4-BE49-F238E27FC236}">
                <a16:creationId xmlns:a16="http://schemas.microsoft.com/office/drawing/2014/main" id="{4043ADFC-DC2E-40D2-954D-4A13B908DA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7203" name="Straight Connector 7202">
              <a:extLst>
                <a:ext uri="{FF2B5EF4-FFF2-40B4-BE49-F238E27FC236}">
                  <a16:creationId xmlns:a16="http://schemas.microsoft.com/office/drawing/2014/main" id="{C975E7D3-10F5-4E53-902F-9E79C98C22D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04" name="Straight Connector 7203">
              <a:extLst>
                <a:ext uri="{FF2B5EF4-FFF2-40B4-BE49-F238E27FC236}">
                  <a16:creationId xmlns:a16="http://schemas.microsoft.com/office/drawing/2014/main" id="{BDC51AAB-5A3B-4730-B8AC-46C96AC0B69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05" name="Straight Connector 7204">
              <a:extLst>
                <a:ext uri="{FF2B5EF4-FFF2-40B4-BE49-F238E27FC236}">
                  <a16:creationId xmlns:a16="http://schemas.microsoft.com/office/drawing/2014/main" id="{03A6F2D9-1476-4E35-988D-D4CCB15C8D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06" name="Straight Connector 7205">
              <a:extLst>
                <a:ext uri="{FF2B5EF4-FFF2-40B4-BE49-F238E27FC236}">
                  <a16:creationId xmlns:a16="http://schemas.microsoft.com/office/drawing/2014/main" id="{CE17F678-D5C6-49BF-933D-1E65F69B32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6516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AA1569-6DA4-12D2-6343-516CD99DC30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08DC1A9-6B77-C9C9-722D-908F7820C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F76706-35C1-5029-F20C-129C3BD114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0DCFB147-D2F6-7B45-84DA-1166B5175F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4" name="Oval 13">
              <a:extLst>
                <a:ext uri="{FF2B5EF4-FFF2-40B4-BE49-F238E27FC236}">
                  <a16:creationId xmlns:a16="http://schemas.microsoft.com/office/drawing/2014/main" id="{F1011A8D-D742-1078-CC8E-C737E4EBA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BF0E3F6-72D6-9499-EDD6-58B2DC9705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751682F-326F-4083-BE3F-265DBD11E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6FE832B-073C-50B8-6D84-B61E6E72E2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1604BF40-2CE4-E56A-43AE-EA3456A44D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68DD67B-00D5-B7AE-FEC9-F288E8666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213A86DC-A904-AD23-0B87-3DFDC4EC22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24E693-F38D-65E8-BFF4-3472B8D4D67B}"/>
              </a:ext>
            </a:extLst>
          </p:cNvPr>
          <p:cNvSpPr>
            <a:spLocks noGrp="1"/>
          </p:cNvSpPr>
          <p:nvPr>
            <p:ph type="title"/>
          </p:nvPr>
        </p:nvSpPr>
        <p:spPr>
          <a:xfrm>
            <a:off x="30829" y="33945"/>
            <a:ext cx="11339316" cy="1213359"/>
          </a:xfrm>
          <a:noFill/>
        </p:spPr>
        <p:txBody>
          <a:bodyPr vert="horz" lIns="91440" tIns="45720" rIns="91440" bIns="45720" rtlCol="0" anchor="t">
            <a:normAutofit/>
          </a:bodyPr>
          <a:lstStyle/>
          <a:p>
            <a:r>
              <a:rPr lang="en-US" sz="3600" dirty="0">
                <a:solidFill>
                  <a:schemeClr val="bg1"/>
                </a:solidFill>
              </a:rPr>
              <a:t>Actionable recommendations </a:t>
            </a:r>
            <a:r>
              <a:rPr lang="en-US" sz="2800" dirty="0">
                <a:solidFill>
                  <a:schemeClr val="bg1"/>
                </a:solidFill>
              </a:rPr>
              <a:t>For Sellers:</a:t>
            </a:r>
            <a:br>
              <a:rPr lang="en-US" sz="4000" dirty="0">
                <a:solidFill>
                  <a:schemeClr val="bg1"/>
                </a:solidFill>
              </a:rPr>
            </a:br>
            <a:endParaRPr lang="en-US" sz="3700" kern="1200" dirty="0">
              <a:solidFill>
                <a:schemeClr val="bg1"/>
              </a:solidFill>
              <a:latin typeface="+mj-lt"/>
              <a:ea typeface="+mj-ea"/>
              <a:cs typeface="+mj-cs"/>
            </a:endParaRPr>
          </a:p>
        </p:txBody>
      </p:sp>
      <p:sp>
        <p:nvSpPr>
          <p:cNvPr id="23" name="Rectangle 22">
            <a:extLst>
              <a:ext uri="{FF2B5EF4-FFF2-40B4-BE49-F238E27FC236}">
                <a16:creationId xmlns:a16="http://schemas.microsoft.com/office/drawing/2014/main" id="{500AD929-FF7A-F11F-B5FE-995ED45CD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FDBFDA4F-576E-FC57-83E1-6D94564660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6" name="Straight Connector 25">
              <a:extLst>
                <a:ext uri="{FF2B5EF4-FFF2-40B4-BE49-F238E27FC236}">
                  <a16:creationId xmlns:a16="http://schemas.microsoft.com/office/drawing/2014/main" id="{6381A010-3444-EC4B-7950-7316D1895D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E857766-E1E5-2797-C42E-BB9CE6AD045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7379521-1664-E1F3-1CE9-E01FAAEA594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F0499CA-0126-C74A-DA63-01D97361715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7FA43948-B161-D6AF-F404-5EA037E672D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2" name="Straight Connector 31">
              <a:extLst>
                <a:ext uri="{FF2B5EF4-FFF2-40B4-BE49-F238E27FC236}">
                  <a16:creationId xmlns:a16="http://schemas.microsoft.com/office/drawing/2014/main" id="{152DA243-FD63-7C1E-0576-C701B9C617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2D61282-107E-C6C7-23AF-FD1A46CC2D2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1D93B23-F0EB-F027-848B-CFFCC80DFC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D2EA5885-4042-1FF1-4BB2-3C6F5C30F4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BAA9AE1E-3172-B23C-5592-29E59144C7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38" name="Straight Connector 37">
              <a:extLst>
                <a:ext uri="{FF2B5EF4-FFF2-40B4-BE49-F238E27FC236}">
                  <a16:creationId xmlns:a16="http://schemas.microsoft.com/office/drawing/2014/main" id="{8A4414C4-9B11-F8B5-8E80-EE41A359D4B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0C859EB-1D02-8077-56C8-41C496BD74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11F5757B-8E5A-7AA7-9243-3B6109324F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86843FE-DC4B-9972-686D-0A3A77AF790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Content Placeholder 4">
            <a:extLst>
              <a:ext uri="{FF2B5EF4-FFF2-40B4-BE49-F238E27FC236}">
                <a16:creationId xmlns:a16="http://schemas.microsoft.com/office/drawing/2014/main" id="{5A3EC7A2-1CE3-8465-7B19-B6E8602AAE6C}"/>
              </a:ext>
            </a:extLst>
          </p:cNvPr>
          <p:cNvSpPr>
            <a:spLocks noGrp="1"/>
          </p:cNvSpPr>
          <p:nvPr>
            <p:ph idx="1"/>
          </p:nvPr>
        </p:nvSpPr>
        <p:spPr>
          <a:xfrm>
            <a:off x="242292" y="790895"/>
            <a:ext cx="11823583" cy="5681028"/>
          </a:xfrm>
        </p:spPr>
        <p:txBody>
          <a:bodyPr>
            <a:noAutofit/>
          </a:bodyPr>
          <a:lstStyle/>
          <a:p>
            <a:pPr marL="0" indent="0">
              <a:buNone/>
            </a:pPr>
            <a:r>
              <a:rPr lang="en-US" b="1" dirty="0">
                <a:solidFill>
                  <a:schemeClr val="bg1"/>
                </a:solidFill>
              </a:rPr>
              <a:t>Pricing:</a:t>
            </a:r>
            <a:endParaRPr lang="en-US" dirty="0">
              <a:solidFill>
                <a:schemeClr val="bg1"/>
              </a:solidFill>
            </a:endParaRPr>
          </a:p>
          <a:p>
            <a:pPr lvl="0"/>
            <a:r>
              <a:rPr lang="en-US" dirty="0">
                <a:solidFill>
                  <a:schemeClr val="bg1"/>
                </a:solidFill>
              </a:rPr>
              <a:t>Compete aggressively in low-cost segments, but don’t ignore mid-range and premium  opportunities. </a:t>
            </a:r>
          </a:p>
          <a:p>
            <a:pPr lvl="0"/>
            <a:r>
              <a:rPr lang="en-US" dirty="0">
                <a:solidFill>
                  <a:schemeClr val="bg1"/>
                </a:solidFill>
              </a:rPr>
              <a:t>Price competitively, but ensure value is clear at every price point.</a:t>
            </a:r>
            <a:endParaRPr lang="en-US" b="1" dirty="0">
              <a:solidFill>
                <a:schemeClr val="bg1"/>
              </a:solidFill>
            </a:endParaRPr>
          </a:p>
          <a:p>
            <a:pPr marL="0" indent="0">
              <a:buNone/>
            </a:pPr>
            <a:endParaRPr lang="en-US" b="1" dirty="0">
              <a:solidFill>
                <a:schemeClr val="bg1"/>
              </a:solidFill>
            </a:endParaRPr>
          </a:p>
          <a:p>
            <a:pPr marL="0" indent="0">
              <a:buNone/>
            </a:pPr>
            <a:r>
              <a:rPr lang="en-US" b="1" dirty="0">
                <a:solidFill>
                  <a:schemeClr val="bg1"/>
                </a:solidFill>
              </a:rPr>
              <a:t>Discounts:</a:t>
            </a:r>
            <a:endParaRPr lang="en-US" dirty="0">
              <a:solidFill>
                <a:schemeClr val="bg1"/>
              </a:solidFill>
            </a:endParaRPr>
          </a:p>
          <a:p>
            <a:pPr lvl="0"/>
            <a:r>
              <a:rPr lang="en-US" dirty="0">
                <a:solidFill>
                  <a:schemeClr val="bg1"/>
                </a:solidFill>
              </a:rPr>
              <a:t>Use discounts strategically to boost engagement and reviews but focus on sustainable value and customer experience for long-term success.</a:t>
            </a:r>
          </a:p>
          <a:p>
            <a:pPr marL="0" indent="0">
              <a:buNone/>
            </a:pPr>
            <a:endParaRPr lang="en-US" sz="2400" dirty="0">
              <a:solidFill>
                <a:schemeClr val="bg1"/>
              </a:solidFill>
            </a:endParaRPr>
          </a:p>
        </p:txBody>
      </p:sp>
    </p:spTree>
    <p:extLst>
      <p:ext uri="{BB962C8B-B14F-4D97-AF65-F5344CB8AC3E}">
        <p14:creationId xmlns:p14="http://schemas.microsoft.com/office/powerpoint/2010/main" val="1859728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C44805-2ABB-1D6B-50FC-B534D6881632}"/>
            </a:ext>
          </a:extLst>
        </p:cNvPr>
        <p:cNvGrpSpPr/>
        <p:nvPr/>
      </p:nvGrpSpPr>
      <p:grpSpPr>
        <a:xfrm>
          <a:off x="0" y="0"/>
          <a:ext cx="0" cy="0"/>
          <a:chOff x="0" y="0"/>
          <a:chExt cx="0" cy="0"/>
        </a:xfrm>
      </p:grpSpPr>
      <p:sp useBgFill="1">
        <p:nvSpPr>
          <p:cNvPr id="6158" name="Rectangle 6157">
            <a:extLst>
              <a:ext uri="{FF2B5EF4-FFF2-40B4-BE49-F238E27FC236}">
                <a16:creationId xmlns:a16="http://schemas.microsoft.com/office/drawing/2014/main" id="{F988155C-31D3-6270-EADE-8779FA068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FE4F9C8F-98E8-B860-6F76-55F2026C0A32}"/>
              </a:ext>
            </a:extLst>
          </p:cNvPr>
          <p:cNvSpPr>
            <a:spLocks noGrp="1"/>
          </p:cNvSpPr>
          <p:nvPr>
            <p:ph type="title"/>
          </p:nvPr>
        </p:nvSpPr>
        <p:spPr>
          <a:xfrm>
            <a:off x="838201" y="3998018"/>
            <a:ext cx="3981854" cy="2216513"/>
          </a:xfrm>
        </p:spPr>
        <p:txBody>
          <a:bodyPr>
            <a:normAutofit/>
          </a:bodyPr>
          <a:lstStyle/>
          <a:p>
            <a:r>
              <a:rPr lang="en-US" sz="3700"/>
              <a:t>8. Review and Prices of high rated products</a:t>
            </a:r>
            <a:br>
              <a:rPr lang="en-US" sz="3700"/>
            </a:br>
            <a:endParaRPr lang="en-US" sz="3700"/>
          </a:p>
        </p:txBody>
      </p:sp>
      <p:sp>
        <p:nvSpPr>
          <p:cNvPr id="6159" name="Arc 6158">
            <a:extLst>
              <a:ext uri="{FF2B5EF4-FFF2-40B4-BE49-F238E27FC236}">
                <a16:creationId xmlns:a16="http://schemas.microsoft.com/office/drawing/2014/main" id="{89D89DF8-D2CD-48EB-70DF-D541371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6160" name="Content Placeholder 2">
            <a:extLst>
              <a:ext uri="{FF2B5EF4-FFF2-40B4-BE49-F238E27FC236}">
                <a16:creationId xmlns:a16="http://schemas.microsoft.com/office/drawing/2014/main" id="{9A05C427-5449-1F1D-5F36-F0269E47B45B}"/>
              </a:ext>
            </a:extLst>
          </p:cNvPr>
          <p:cNvSpPr>
            <a:spLocks noGrp="1"/>
          </p:cNvSpPr>
          <p:nvPr>
            <p:ph idx="1"/>
          </p:nvPr>
        </p:nvSpPr>
        <p:spPr>
          <a:xfrm>
            <a:off x="4970835" y="3998019"/>
            <a:ext cx="6382966" cy="2216512"/>
          </a:xfrm>
        </p:spPr>
        <p:txBody>
          <a:bodyPr>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b="0" i="0" u="none" strike="noStrike" cap="none" normalizeH="0" baseline="0" dirty="0">
                <a:ln>
                  <a:noFill/>
                </a:ln>
                <a:effectLst/>
                <a:latin typeface="Aptos" panose="020B0004020202020204" pitchFamily="34" charset="0"/>
                <a:ea typeface="Aptos" panose="020B0004020202020204" pitchFamily="34" charset="0"/>
                <a:cs typeface="Times New Roman" panose="02020603050405020304" pitchFamily="18" charset="0"/>
              </a:rPr>
              <a:t>High rating, cheap </a:t>
            </a:r>
            <a:endParaRPr kumimoji="0" lang="en-US" altLang="en-US" b="0" i="0" u="none" strike="noStrike" cap="none" normalizeH="0" baseline="0" dirty="0">
              <a:ln>
                <a:noFill/>
              </a:ln>
              <a:effectLst/>
            </a:endParaRPr>
          </a:p>
          <a:p>
            <a:pPr marL="0" marR="0" lvl="0" indent="0" defTabSz="914400" rtl="0" eaLnBrk="0" fontAlgn="base" latinLnBrk="0" hangingPunct="0">
              <a:spcBef>
                <a:spcPct val="0"/>
              </a:spcBef>
              <a:spcAft>
                <a:spcPts val="600"/>
              </a:spcAft>
              <a:buClrTx/>
              <a:buSzTx/>
              <a:buFontTx/>
              <a:buNone/>
              <a:tabLst/>
            </a:pPr>
            <a:endParaRPr kumimoji="0" lang="en-US" altLang="en-US" b="0" i="0" u="none" strike="noStrike" cap="none" normalizeH="0" baseline="0" dirty="0">
              <a:ln>
                <a:noFill/>
              </a:ln>
              <a:effectLst/>
              <a:latin typeface="Arial" panose="020B0604020202020204" pitchFamily="34" charset="0"/>
            </a:endParaRPr>
          </a:p>
        </p:txBody>
      </p:sp>
      <p:pic>
        <p:nvPicPr>
          <p:cNvPr id="3" name="Picture 2">
            <a:extLst>
              <a:ext uri="{FF2B5EF4-FFF2-40B4-BE49-F238E27FC236}">
                <a16:creationId xmlns:a16="http://schemas.microsoft.com/office/drawing/2014/main" id="{2E867F2B-610A-C4CE-4AF8-CDEA41426FF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38201" y="643469"/>
            <a:ext cx="11057434" cy="3127033"/>
          </a:xfrm>
          <a:prstGeom prst="rect">
            <a:avLst/>
          </a:prstGeom>
          <a:noFill/>
          <a:ln>
            <a:noFill/>
          </a:ln>
        </p:spPr>
      </p:pic>
    </p:spTree>
    <p:extLst>
      <p:ext uri="{BB962C8B-B14F-4D97-AF65-F5344CB8AC3E}">
        <p14:creationId xmlns:p14="http://schemas.microsoft.com/office/powerpoint/2010/main" val="1491272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38CD1F2-2CDE-4B42-BB23-EC7686F92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9827173-10F7-4BE6-8CC8-39A46D781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60FB2829-9E66-4DBD-BC15-FC5D73246D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4" name="Oval 13">
              <a:extLst>
                <a:ext uri="{FF2B5EF4-FFF2-40B4-BE49-F238E27FC236}">
                  <a16:creationId xmlns:a16="http://schemas.microsoft.com/office/drawing/2014/main" id="{E9EE2A32-8611-4375-B6B1-468FAD682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77E1DA0-3927-4F35-B8A3-D5D5563757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7BAA08B-588E-406F-899B-A6A7FC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8AA7C41-B331-402E-9453-95B3B8273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A7060B3E-946D-4885-9B86-1D445209E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3046747-F284-4990-9ECA-3DF2C6E08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21301226-F3C6-4744-94AE-2460B381D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3C4CC8-AB97-325A-DF00-D0BA03DDCFCE}"/>
              </a:ext>
            </a:extLst>
          </p:cNvPr>
          <p:cNvSpPr>
            <a:spLocks noGrp="1"/>
          </p:cNvSpPr>
          <p:nvPr>
            <p:ph type="title"/>
          </p:nvPr>
        </p:nvSpPr>
        <p:spPr>
          <a:xfrm>
            <a:off x="629640" y="630935"/>
            <a:ext cx="5107366" cy="2096769"/>
          </a:xfrm>
          <a:noFill/>
        </p:spPr>
        <p:txBody>
          <a:bodyPr vert="horz" lIns="91440" tIns="45720" rIns="91440" bIns="45720" rtlCol="0" anchor="t">
            <a:normAutofit/>
          </a:bodyPr>
          <a:lstStyle/>
          <a:p>
            <a:r>
              <a:rPr lang="en-US" sz="3700" kern="1200">
                <a:solidFill>
                  <a:schemeClr val="bg1"/>
                </a:solidFill>
                <a:latin typeface="+mj-lt"/>
                <a:ea typeface="+mj-ea"/>
                <a:cs typeface="+mj-cs"/>
              </a:rPr>
              <a:t>9. Top-performing products based on stars, reviews, and price</a:t>
            </a:r>
          </a:p>
        </p:txBody>
      </p:sp>
      <p:sp>
        <p:nvSpPr>
          <p:cNvPr id="23" name="Rectangle 22">
            <a:extLst>
              <a:ext uri="{FF2B5EF4-FFF2-40B4-BE49-F238E27FC236}">
                <a16:creationId xmlns:a16="http://schemas.microsoft.com/office/drawing/2014/main" id="{4EC57637-D435-4155-993A-0E3A8BBBA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0B81AE96-B9C7-4679-BC62-F2C79F2E8F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6" name="Straight Connector 25">
              <a:extLst>
                <a:ext uri="{FF2B5EF4-FFF2-40B4-BE49-F238E27FC236}">
                  <a16:creationId xmlns:a16="http://schemas.microsoft.com/office/drawing/2014/main" id="{BD4225F6-B312-47D5-8299-988BD17E0E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3C04A86-BCAE-473C-B18D-88FD5627C4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CCD134-9351-4847-8741-FF5EAB4705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1470C83-08EE-4959-BA0A-F8846F524E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DBFD3A89-3666-47FE-913F-6C75228F5D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2" name="Straight Connector 31">
              <a:extLst>
                <a:ext uri="{FF2B5EF4-FFF2-40B4-BE49-F238E27FC236}">
                  <a16:creationId xmlns:a16="http://schemas.microsoft.com/office/drawing/2014/main" id="{AD6B60E5-039C-4E82-9B5C-984D6C46E1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D05E89-A5D2-4DC0-B6B1-298EF0EF0A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337967A-8AB7-47D5-A75E-6341730E99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A068AD4-624D-4314-8C86-A3C0C3378C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4" name="Content Placeholder 3">
            <a:extLst>
              <a:ext uri="{FF2B5EF4-FFF2-40B4-BE49-F238E27FC236}">
                <a16:creationId xmlns:a16="http://schemas.microsoft.com/office/drawing/2014/main" id="{1858116F-CC5E-6BB8-C25C-9067AE81B2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85457" y="3013403"/>
            <a:ext cx="11683499" cy="2726395"/>
          </a:xfrm>
          <a:prstGeom prst="rect">
            <a:avLst/>
          </a:prstGeom>
          <a:noFill/>
        </p:spPr>
      </p:pic>
      <p:grpSp>
        <p:nvGrpSpPr>
          <p:cNvPr id="37" name="Group 36">
            <a:extLst>
              <a:ext uri="{FF2B5EF4-FFF2-40B4-BE49-F238E27FC236}">
                <a16:creationId xmlns:a16="http://schemas.microsoft.com/office/drawing/2014/main" id="{ACA2F7C3-1A69-44EE-A8B6-A4552E2C84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38" name="Straight Connector 37">
              <a:extLst>
                <a:ext uri="{FF2B5EF4-FFF2-40B4-BE49-F238E27FC236}">
                  <a16:creationId xmlns:a16="http://schemas.microsoft.com/office/drawing/2014/main" id="{6E44AF4D-8873-43B3-8E29-803B7720E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E89E8A-BD14-4974-818A-D8382DCD4D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21B80B9-448B-4363-9DD7-C074AB2AD7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7DA34E7-83FB-4CAA-94F3-CEF0869076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9564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BA8E0-4751-C61C-6952-B9CA0B58874A}"/>
              </a:ext>
            </a:extLst>
          </p:cNvPr>
          <p:cNvSpPr>
            <a:spLocks noGrp="1"/>
          </p:cNvSpPr>
          <p:nvPr>
            <p:ph type="title"/>
          </p:nvPr>
        </p:nvSpPr>
        <p:spPr>
          <a:xfrm>
            <a:off x="6726578" y="685680"/>
            <a:ext cx="4203323" cy="3596201"/>
          </a:xfrm>
        </p:spPr>
        <p:txBody>
          <a:bodyPr vert="horz" lIns="91440" tIns="45720" rIns="91440" bIns="45720" rtlCol="0" anchor="b">
            <a:normAutofit/>
          </a:bodyPr>
          <a:lstStyle/>
          <a:p>
            <a:pPr algn="r"/>
            <a:r>
              <a:rPr lang="en-US" sz="3800" kern="1200">
                <a:solidFill>
                  <a:schemeClr val="bg1"/>
                </a:solidFill>
                <a:latin typeface="+mj-lt"/>
                <a:ea typeface="+mj-ea"/>
                <a:cs typeface="+mj-cs"/>
              </a:rPr>
              <a:t>9. Actionable recommendations can be made to sellers based on pricing, discounts, and category focus</a:t>
            </a:r>
          </a:p>
        </p:txBody>
      </p:sp>
      <p:graphicFrame>
        <p:nvGraphicFramePr>
          <p:cNvPr id="4" name="Content Placeholder 3">
            <a:extLst>
              <a:ext uri="{FF2B5EF4-FFF2-40B4-BE49-F238E27FC236}">
                <a16:creationId xmlns:a16="http://schemas.microsoft.com/office/drawing/2014/main" id="{C0968C2E-6049-97BE-B725-8868FF5E3A19}"/>
              </a:ext>
            </a:extLst>
          </p:cNvPr>
          <p:cNvGraphicFramePr>
            <a:graphicFrameLocks noGrp="1"/>
          </p:cNvGraphicFramePr>
          <p:nvPr>
            <p:ph idx="1"/>
            <p:extLst>
              <p:ext uri="{D42A27DB-BD31-4B8C-83A1-F6EECF244321}">
                <p14:modId xmlns:p14="http://schemas.microsoft.com/office/powerpoint/2010/main" val="1396282595"/>
              </p:ext>
            </p:extLst>
          </p:nvPr>
        </p:nvGraphicFramePr>
        <p:xfrm>
          <a:off x="894479" y="549749"/>
          <a:ext cx="4172845" cy="4569592"/>
        </p:xfrm>
        <a:graphic>
          <a:graphicData uri="http://schemas.openxmlformats.org/drawingml/2006/table">
            <a:tbl>
              <a:tblPr>
                <a:tableStyleId>{8EC20E35-A176-4012-BC5E-935CFFF8708E}</a:tableStyleId>
              </a:tblPr>
              <a:tblGrid>
                <a:gridCol w="4172845">
                  <a:extLst>
                    <a:ext uri="{9D8B030D-6E8A-4147-A177-3AD203B41FA5}">
                      <a16:colId xmlns:a16="http://schemas.microsoft.com/office/drawing/2014/main" val="2263919154"/>
                    </a:ext>
                  </a:extLst>
                </a:gridCol>
              </a:tblGrid>
              <a:tr h="2580699">
                <a:tc>
                  <a:txBody>
                    <a:bodyPr/>
                    <a:lstStyle/>
                    <a:p>
                      <a:pPr fontAlgn="t">
                        <a:lnSpc>
                          <a:spcPts val="1500"/>
                        </a:lnSpc>
                        <a:buNone/>
                      </a:pPr>
                      <a:r>
                        <a:rPr lang="en-US" sz="1200" b="1" dirty="0">
                          <a:effectLst/>
                        </a:rPr>
                        <a:t>Insights</a:t>
                      </a:r>
                    </a:p>
                    <a:p>
                      <a:pPr fontAlgn="t">
                        <a:lnSpc>
                          <a:spcPts val="1500"/>
                        </a:lnSpc>
                        <a:buNone/>
                      </a:pPr>
                      <a:r>
                        <a:rPr lang="en-US" sz="1200" b="1" dirty="0">
                          <a:effectLst/>
                        </a:rPr>
                        <a:t>Question 1</a:t>
                      </a:r>
                    </a:p>
                    <a:p>
                      <a:pPr marL="0" marR="0" lvl="0" indent="0" algn="l" defTabSz="914400" rtl="0" eaLnBrk="1" fontAlgn="t" latinLnBrk="0" hangingPunct="1">
                        <a:lnSpc>
                          <a:spcPts val="15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From the </a:t>
                      </a:r>
                      <a:r>
                        <a:rPr lang="en-US" sz="1800" b="0" i="0" kern="1200" dirty="0" err="1">
                          <a:solidFill>
                            <a:schemeClr val="dk1"/>
                          </a:solidFill>
                          <a:effectLst/>
                          <a:latin typeface="+mn-lt"/>
                          <a:ea typeface="+mn-ea"/>
                          <a:cs typeface="+mn-cs"/>
                        </a:rPr>
                        <a:t>dataframe</a:t>
                      </a:r>
                      <a:r>
                        <a:rPr lang="en-US" sz="1800" b="0" i="0" kern="1200" dirty="0">
                          <a:solidFill>
                            <a:schemeClr val="dk1"/>
                          </a:solidFill>
                          <a:effectLst/>
                          <a:latin typeface="+mn-lt"/>
                          <a:ea typeface="+mn-ea"/>
                          <a:cs typeface="+mn-cs"/>
                        </a:rPr>
                        <a:t> above we can see the major categories of product that were bought by customers were girls and boys clothing with toys following closely. Also we can note that amongst the top ten major categories, fashion items are the top product categories</a:t>
                      </a:r>
                    </a:p>
                    <a:p>
                      <a:pPr fontAlgn="t">
                        <a:lnSpc>
                          <a:spcPts val="1500"/>
                        </a:lnSpc>
                        <a:buNone/>
                      </a:pPr>
                      <a:endParaRPr lang="en-US" sz="1200" b="0" dirty="0">
                        <a:effectLst/>
                      </a:endParaRPr>
                    </a:p>
                    <a:p>
                      <a:pPr fontAlgn="t">
                        <a:lnSpc>
                          <a:spcPts val="1500"/>
                        </a:lnSpc>
                        <a:buNone/>
                      </a:pPr>
                      <a:r>
                        <a:rPr lang="en-US" sz="1200" b="0" dirty="0">
                          <a:effectLst/>
                        </a:rPr>
                        <a:t>Question 2</a:t>
                      </a:r>
                    </a:p>
                    <a:p>
                      <a:pPr marL="0" marR="0" lvl="0" indent="0" algn="l" defTabSz="914400" rtl="0" eaLnBrk="1" fontAlgn="t" latinLnBrk="0" hangingPunct="1">
                        <a:lnSpc>
                          <a:spcPts val="15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Insights: The analysis shows that the products in Amazon are dominantly low-cost, which account for over 53% of the products pricing. Mid-range products make up about 39%, while premium-priced items represent only 7.5% of the platform. This indicates that the platform features a higher concentration of affordable products, while premium offerings represent a smaller share of the overall marketplace.</a:t>
                      </a:r>
                      <a:endParaRPr lang="en-US" sz="1200" b="0" i="0" dirty="0">
                        <a:effectLst/>
                        <a:latin typeface="Segoe UI" panose="020B0502040204020203" pitchFamily="34" charset="0"/>
                      </a:endParaRPr>
                    </a:p>
                  </a:txBody>
                  <a:tcPr marL="59606" marR="59606" marT="29803" marB="29803"/>
                </a:tc>
                <a:extLst>
                  <a:ext uri="{0D108BD9-81ED-4DB2-BD59-A6C34878D82A}">
                    <a16:rowId xmlns:a16="http://schemas.microsoft.com/office/drawing/2014/main" val="210133792"/>
                  </a:ext>
                </a:extLst>
              </a:tr>
              <a:tr h="298031">
                <a:tc>
                  <a:txBody>
                    <a:bodyPr/>
                    <a:lstStyle/>
                    <a:p>
                      <a:endParaRPr lang="en-US" sz="1200" dirty="0"/>
                    </a:p>
                  </a:txBody>
                  <a:tcPr marL="59606" marR="59606" marT="29803" marB="29803"/>
                </a:tc>
                <a:extLst>
                  <a:ext uri="{0D108BD9-81ED-4DB2-BD59-A6C34878D82A}">
                    <a16:rowId xmlns:a16="http://schemas.microsoft.com/office/drawing/2014/main" val="4237614583"/>
                  </a:ext>
                </a:extLst>
              </a:tr>
            </a:tbl>
          </a:graphicData>
        </a:graphic>
      </p:graphicFrame>
    </p:spTree>
    <p:extLst>
      <p:ext uri="{BB962C8B-B14F-4D97-AF65-F5344CB8AC3E}">
        <p14:creationId xmlns:p14="http://schemas.microsoft.com/office/powerpoint/2010/main" val="205032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58708-A607-4A01-A02F-CBD64008B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6AFD9-09AE-6A28-9475-8493D10A432E}"/>
              </a:ext>
            </a:extLst>
          </p:cNvPr>
          <p:cNvSpPr>
            <a:spLocks noGrp="1"/>
          </p:cNvSpPr>
          <p:nvPr>
            <p:ph type="title"/>
          </p:nvPr>
        </p:nvSpPr>
        <p:spPr>
          <a:xfrm>
            <a:off x="6726578" y="685680"/>
            <a:ext cx="4203323" cy="3596201"/>
          </a:xfrm>
        </p:spPr>
        <p:txBody>
          <a:bodyPr vert="horz" lIns="91440" tIns="45720" rIns="91440" bIns="45720" rtlCol="0" anchor="b">
            <a:normAutofit/>
          </a:bodyPr>
          <a:lstStyle/>
          <a:p>
            <a:pPr algn="r"/>
            <a:r>
              <a:rPr lang="en-US" sz="3800" kern="1200">
                <a:solidFill>
                  <a:schemeClr val="bg1"/>
                </a:solidFill>
                <a:latin typeface="+mj-lt"/>
                <a:ea typeface="+mj-ea"/>
                <a:cs typeface="+mj-cs"/>
              </a:rPr>
              <a:t>9. Actionable recommendations can be made to sellers based on pricing, discounts, and category focus</a:t>
            </a:r>
          </a:p>
        </p:txBody>
      </p:sp>
      <p:graphicFrame>
        <p:nvGraphicFramePr>
          <p:cNvPr id="4" name="Content Placeholder 3">
            <a:extLst>
              <a:ext uri="{FF2B5EF4-FFF2-40B4-BE49-F238E27FC236}">
                <a16:creationId xmlns:a16="http://schemas.microsoft.com/office/drawing/2014/main" id="{51383B84-3601-EE64-7D9F-780D350A2A44}"/>
              </a:ext>
            </a:extLst>
          </p:cNvPr>
          <p:cNvGraphicFramePr>
            <a:graphicFrameLocks noGrp="1"/>
          </p:cNvGraphicFramePr>
          <p:nvPr>
            <p:ph idx="1"/>
            <p:extLst>
              <p:ext uri="{D42A27DB-BD31-4B8C-83A1-F6EECF244321}">
                <p14:modId xmlns:p14="http://schemas.microsoft.com/office/powerpoint/2010/main" val="889918470"/>
              </p:ext>
            </p:extLst>
          </p:nvPr>
        </p:nvGraphicFramePr>
        <p:xfrm>
          <a:off x="419102" y="497340"/>
          <a:ext cx="6485756" cy="5435954"/>
        </p:xfrm>
        <a:graphic>
          <a:graphicData uri="http://schemas.openxmlformats.org/drawingml/2006/table">
            <a:tbl>
              <a:tblPr>
                <a:tableStyleId>{8EC20E35-A176-4012-BC5E-935CFFF8708E}</a:tableStyleId>
              </a:tblPr>
              <a:tblGrid>
                <a:gridCol w="6485756">
                  <a:extLst>
                    <a:ext uri="{9D8B030D-6E8A-4147-A177-3AD203B41FA5}">
                      <a16:colId xmlns:a16="http://schemas.microsoft.com/office/drawing/2014/main" val="2263919154"/>
                    </a:ext>
                  </a:extLst>
                </a:gridCol>
              </a:tblGrid>
              <a:tr h="5167196">
                <a:tc>
                  <a:txBody>
                    <a:bodyPr/>
                    <a:lstStyle/>
                    <a:p>
                      <a:pPr fontAlgn="t">
                        <a:lnSpc>
                          <a:spcPts val="1500"/>
                        </a:lnSpc>
                        <a:buNone/>
                      </a:pPr>
                      <a:r>
                        <a:rPr lang="en-US" sz="1200" b="1" dirty="0">
                          <a:effectLst/>
                        </a:rPr>
                        <a:t>Insights</a:t>
                      </a:r>
                    </a:p>
                    <a:p>
                      <a:pPr fontAlgn="t">
                        <a:lnSpc>
                          <a:spcPts val="1500"/>
                        </a:lnSpc>
                        <a:buNone/>
                      </a:pPr>
                      <a:r>
                        <a:rPr lang="en-US" sz="1200" b="1" dirty="0">
                          <a:effectLst/>
                        </a:rPr>
                        <a:t>Question 3</a:t>
                      </a:r>
                    </a:p>
                    <a:p>
                      <a:r>
                        <a:rPr lang="en-US" sz="1800" b="0" i="0" kern="1200" dirty="0">
                          <a:solidFill>
                            <a:schemeClr val="dk1"/>
                          </a:solidFill>
                          <a:effectLst/>
                          <a:latin typeface="+mn-lt"/>
                          <a:ea typeface="+mn-ea"/>
                          <a:cs typeface="+mn-cs"/>
                        </a:rPr>
                        <a:t>Insights: The analysis shows that technology-oriented categories such as Computer Servers, Computers &amp; Tablets, and Smart Home entertainment products are the highest priced products on Amazon. In contrast, categories like Online Video Game Services, Baby Stationery and Arts &amp; Crafts Supplies are among the cheapest. This highlights a clear pricing divide between high-value equipment-based products and low-cost consumable or digital items.</a:t>
                      </a:r>
                    </a:p>
                    <a:p>
                      <a:pPr fontAlgn="t">
                        <a:lnSpc>
                          <a:spcPts val="1500"/>
                        </a:lnSpc>
                        <a:buNone/>
                      </a:pPr>
                      <a:endParaRPr lang="en-US" sz="1200" b="0" dirty="0">
                        <a:effectLst/>
                      </a:endParaRPr>
                    </a:p>
                    <a:p>
                      <a:pPr fontAlgn="t">
                        <a:lnSpc>
                          <a:spcPts val="1500"/>
                        </a:lnSpc>
                        <a:buNone/>
                      </a:pPr>
                      <a:r>
                        <a:rPr lang="en-US" sz="1200" b="0" dirty="0">
                          <a:effectLst/>
                        </a:rPr>
                        <a:t>Question 4</a:t>
                      </a:r>
                    </a:p>
                    <a:p>
                      <a:r>
                        <a:rPr lang="en-US" sz="1800" b="0" i="0" kern="1200" dirty="0">
                          <a:solidFill>
                            <a:schemeClr val="dk1"/>
                          </a:solidFill>
                          <a:effectLst/>
                          <a:latin typeface="+mn-lt"/>
                          <a:ea typeface="+mn-ea"/>
                          <a:cs typeface="+mn-cs"/>
                        </a:rPr>
                        <a:t>Insights: Customer ratings are heavily concentrated in high-turnover categories such as clothing and toys, while niche or higher-priced categories receive far fewer ratings. This long-tail distribution indicates that customer engagement is driven more by purchase frequency than by product price, highlighting the importance of ratings management for competitive categories.</a:t>
                      </a:r>
                    </a:p>
                  </a:txBody>
                  <a:tcPr marL="59606" marR="59606" marT="29803" marB="29803"/>
                </a:tc>
                <a:extLst>
                  <a:ext uri="{0D108BD9-81ED-4DB2-BD59-A6C34878D82A}">
                    <a16:rowId xmlns:a16="http://schemas.microsoft.com/office/drawing/2014/main" val="210133792"/>
                  </a:ext>
                </a:extLst>
              </a:tr>
              <a:tr h="268758">
                <a:tc>
                  <a:txBody>
                    <a:bodyPr/>
                    <a:lstStyle/>
                    <a:p>
                      <a:endParaRPr lang="en-US" sz="1200" dirty="0"/>
                    </a:p>
                  </a:txBody>
                  <a:tcPr marL="59606" marR="59606" marT="29803" marB="29803"/>
                </a:tc>
                <a:extLst>
                  <a:ext uri="{0D108BD9-81ED-4DB2-BD59-A6C34878D82A}">
                    <a16:rowId xmlns:a16="http://schemas.microsoft.com/office/drawing/2014/main" val="4237614583"/>
                  </a:ext>
                </a:extLst>
              </a:tr>
            </a:tbl>
          </a:graphicData>
        </a:graphic>
      </p:graphicFrame>
    </p:spTree>
    <p:extLst>
      <p:ext uri="{BB962C8B-B14F-4D97-AF65-F5344CB8AC3E}">
        <p14:creationId xmlns:p14="http://schemas.microsoft.com/office/powerpoint/2010/main" val="13492673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EBD92-D089-7C4B-76AB-2DFCD886AE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1ABBE7-3824-053B-7300-BF52069F4002}"/>
              </a:ext>
            </a:extLst>
          </p:cNvPr>
          <p:cNvSpPr>
            <a:spLocks noGrp="1"/>
          </p:cNvSpPr>
          <p:nvPr>
            <p:ph type="title"/>
          </p:nvPr>
        </p:nvSpPr>
        <p:spPr>
          <a:xfrm>
            <a:off x="6726578" y="685680"/>
            <a:ext cx="4203323" cy="3596201"/>
          </a:xfrm>
        </p:spPr>
        <p:txBody>
          <a:bodyPr vert="horz" lIns="91440" tIns="45720" rIns="91440" bIns="45720" rtlCol="0" anchor="b">
            <a:normAutofit/>
          </a:bodyPr>
          <a:lstStyle/>
          <a:p>
            <a:pPr algn="r"/>
            <a:r>
              <a:rPr lang="en-US" sz="3800" kern="1200">
                <a:solidFill>
                  <a:schemeClr val="bg1"/>
                </a:solidFill>
                <a:latin typeface="+mj-lt"/>
                <a:ea typeface="+mj-ea"/>
                <a:cs typeface="+mj-cs"/>
              </a:rPr>
              <a:t>9. Actionable recommendations can be made to sellers based on pricing, discounts, and category focus</a:t>
            </a:r>
          </a:p>
        </p:txBody>
      </p:sp>
      <p:graphicFrame>
        <p:nvGraphicFramePr>
          <p:cNvPr id="4" name="Content Placeholder 3">
            <a:extLst>
              <a:ext uri="{FF2B5EF4-FFF2-40B4-BE49-F238E27FC236}">
                <a16:creationId xmlns:a16="http://schemas.microsoft.com/office/drawing/2014/main" id="{247AAF60-5664-E7BD-3475-04E19FC8207B}"/>
              </a:ext>
            </a:extLst>
          </p:cNvPr>
          <p:cNvGraphicFramePr>
            <a:graphicFrameLocks noGrp="1"/>
          </p:cNvGraphicFramePr>
          <p:nvPr>
            <p:ph idx="1"/>
            <p:extLst>
              <p:ext uri="{D42A27DB-BD31-4B8C-83A1-F6EECF244321}">
                <p14:modId xmlns:p14="http://schemas.microsoft.com/office/powerpoint/2010/main" val="3781760311"/>
              </p:ext>
            </p:extLst>
          </p:nvPr>
        </p:nvGraphicFramePr>
        <p:xfrm>
          <a:off x="489857" y="309964"/>
          <a:ext cx="6841671" cy="6238072"/>
        </p:xfrm>
        <a:graphic>
          <a:graphicData uri="http://schemas.openxmlformats.org/drawingml/2006/table">
            <a:tbl>
              <a:tblPr>
                <a:tableStyleId>{8EC20E35-A176-4012-BC5E-935CFFF8708E}</a:tableStyleId>
              </a:tblPr>
              <a:tblGrid>
                <a:gridCol w="6841671">
                  <a:extLst>
                    <a:ext uri="{9D8B030D-6E8A-4147-A177-3AD203B41FA5}">
                      <a16:colId xmlns:a16="http://schemas.microsoft.com/office/drawing/2014/main" val="2263919154"/>
                    </a:ext>
                  </a:extLst>
                </a:gridCol>
              </a:tblGrid>
              <a:tr h="4763738">
                <a:tc>
                  <a:txBody>
                    <a:bodyPr/>
                    <a:lstStyle/>
                    <a:p>
                      <a:pPr fontAlgn="t">
                        <a:lnSpc>
                          <a:spcPts val="1500"/>
                        </a:lnSpc>
                        <a:buNone/>
                      </a:pPr>
                      <a:r>
                        <a:rPr lang="en-US" sz="1200" b="1" dirty="0">
                          <a:effectLst/>
                        </a:rPr>
                        <a:t>Insights</a:t>
                      </a:r>
                    </a:p>
                    <a:p>
                      <a:pPr fontAlgn="t">
                        <a:lnSpc>
                          <a:spcPts val="1500"/>
                        </a:lnSpc>
                        <a:buNone/>
                      </a:pPr>
                      <a:r>
                        <a:rPr lang="en-US" sz="1200" b="1" dirty="0">
                          <a:effectLst/>
                        </a:rPr>
                        <a:t>Question 5</a:t>
                      </a:r>
                    </a:p>
                    <a:p>
                      <a:pPr marL="0" marR="0" lvl="0" indent="0" algn="l" defTabSz="914400" rtl="0" eaLnBrk="1" fontAlgn="t" latinLnBrk="0" hangingPunct="1">
                        <a:lnSpc>
                          <a:spcPts val="15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Insights: The correlation between product price and customer rating is -0.08, which is very close to zero. This indicates that there is virtually no linear relationship between how expensive a product is and how highly it is rated. In other words, higher-priced products are not necessarily better rated, and cheaper products can receive equally high ratings.</a:t>
                      </a:r>
                    </a:p>
                    <a:p>
                      <a:pPr fontAlgn="t">
                        <a:lnSpc>
                          <a:spcPts val="1500"/>
                        </a:lnSpc>
                        <a:buNone/>
                      </a:pPr>
                      <a:endParaRPr lang="en-US" sz="1200" b="1" dirty="0">
                        <a:effectLst/>
                      </a:endParaRPr>
                    </a:p>
                    <a:p>
                      <a:pPr fontAlgn="t">
                        <a:lnSpc>
                          <a:spcPts val="1500"/>
                        </a:lnSpc>
                        <a:buNone/>
                      </a:pPr>
                      <a:r>
                        <a:rPr lang="en-US" sz="1200" b="1" dirty="0">
                          <a:effectLst/>
                        </a:rPr>
                        <a:t>Question 6</a:t>
                      </a:r>
                    </a:p>
                    <a:p>
                      <a:r>
                        <a:rPr lang="en-US" sz="1800" b="0" i="0" kern="1200" dirty="0">
                          <a:solidFill>
                            <a:schemeClr val="dk1"/>
                          </a:solidFill>
                          <a:effectLst/>
                          <a:latin typeface="+mn-lt"/>
                          <a:ea typeface="+mn-ea"/>
                          <a:cs typeface="+mn-cs"/>
                        </a:rPr>
                        <a:t>By grouping products into discount ranges, we can see how customer ratings vary with discount levels. If the bar chart shows relatively similar average ratings across all discount categories, it indicates that offering larger discounts does not necessarily lead to higher customer ratings. Conversely, if higher discounts have higher average ratings, it may suggest that discounts slightly improve customer perception or satisfaction, but this should be interpreted carefully alongside other engagement metrics.</a:t>
                      </a:r>
                    </a:p>
                    <a:p>
                      <a:r>
                        <a:rPr lang="en-US" sz="1800" b="0" i="0" kern="1200" dirty="0">
                          <a:solidFill>
                            <a:schemeClr val="dk1"/>
                          </a:solidFill>
                          <a:effectLst/>
                          <a:latin typeface="+mn-lt"/>
                          <a:ea typeface="+mn-ea"/>
                          <a:cs typeface="+mn-cs"/>
                        </a:rPr>
                        <a:t>From the visuals, we can see that The correlation between discount percentage and customer ratings is 0.078, which is very close to zero. This indicates a very weak positive relationship — meaning that higher discounts barely influence customer ratings. In other words, giving bigger discounts does not significantly make customers rate products higher.</a:t>
                      </a:r>
                    </a:p>
                    <a:p>
                      <a:pPr fontAlgn="t">
                        <a:lnSpc>
                          <a:spcPts val="1500"/>
                        </a:lnSpc>
                        <a:buNone/>
                      </a:pPr>
                      <a:endParaRPr lang="en-US" sz="1200" b="1" dirty="0">
                        <a:effectLst/>
                      </a:endParaRPr>
                    </a:p>
                  </a:txBody>
                  <a:tcPr marL="59606" marR="59606" marT="29803" marB="29803"/>
                </a:tc>
                <a:extLst>
                  <a:ext uri="{0D108BD9-81ED-4DB2-BD59-A6C34878D82A}">
                    <a16:rowId xmlns:a16="http://schemas.microsoft.com/office/drawing/2014/main" val="210133792"/>
                  </a:ext>
                </a:extLst>
              </a:tr>
              <a:tr h="192665">
                <a:tc>
                  <a:txBody>
                    <a:bodyPr/>
                    <a:lstStyle/>
                    <a:p>
                      <a:endParaRPr lang="en-US" sz="1200" dirty="0"/>
                    </a:p>
                  </a:txBody>
                  <a:tcPr marL="59606" marR="59606" marT="29803" marB="29803"/>
                </a:tc>
                <a:extLst>
                  <a:ext uri="{0D108BD9-81ED-4DB2-BD59-A6C34878D82A}">
                    <a16:rowId xmlns:a16="http://schemas.microsoft.com/office/drawing/2014/main" val="4237614583"/>
                  </a:ext>
                </a:extLst>
              </a:tr>
            </a:tbl>
          </a:graphicData>
        </a:graphic>
      </p:graphicFrame>
    </p:spTree>
    <p:extLst>
      <p:ext uri="{BB962C8B-B14F-4D97-AF65-F5344CB8AC3E}">
        <p14:creationId xmlns:p14="http://schemas.microsoft.com/office/powerpoint/2010/main" val="2661840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3D52E-EF17-3D92-732B-9AC2AF1C3E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D7303-C173-3974-6288-99730D5A7861}"/>
              </a:ext>
            </a:extLst>
          </p:cNvPr>
          <p:cNvSpPr>
            <a:spLocks noGrp="1"/>
          </p:cNvSpPr>
          <p:nvPr>
            <p:ph type="title"/>
          </p:nvPr>
        </p:nvSpPr>
        <p:spPr>
          <a:xfrm>
            <a:off x="6726578" y="685680"/>
            <a:ext cx="4203323" cy="3596201"/>
          </a:xfrm>
        </p:spPr>
        <p:txBody>
          <a:bodyPr vert="horz" lIns="91440" tIns="45720" rIns="91440" bIns="45720" rtlCol="0" anchor="b">
            <a:normAutofit/>
          </a:bodyPr>
          <a:lstStyle/>
          <a:p>
            <a:pPr algn="r"/>
            <a:r>
              <a:rPr lang="en-US" sz="3800" kern="1200">
                <a:solidFill>
                  <a:schemeClr val="bg1"/>
                </a:solidFill>
                <a:latin typeface="+mj-lt"/>
                <a:ea typeface="+mj-ea"/>
                <a:cs typeface="+mj-cs"/>
              </a:rPr>
              <a:t>9. Actionable recommendations can be made to sellers based on pricing, discounts, and category focus</a:t>
            </a:r>
          </a:p>
        </p:txBody>
      </p:sp>
      <p:graphicFrame>
        <p:nvGraphicFramePr>
          <p:cNvPr id="4" name="Content Placeholder 3">
            <a:extLst>
              <a:ext uri="{FF2B5EF4-FFF2-40B4-BE49-F238E27FC236}">
                <a16:creationId xmlns:a16="http://schemas.microsoft.com/office/drawing/2014/main" id="{3A869465-FB88-7F1A-AA1B-CD242A2D8136}"/>
              </a:ext>
            </a:extLst>
          </p:cNvPr>
          <p:cNvGraphicFramePr>
            <a:graphicFrameLocks noGrp="1"/>
          </p:cNvGraphicFramePr>
          <p:nvPr>
            <p:ph idx="1"/>
          </p:nvPr>
        </p:nvGraphicFramePr>
        <p:xfrm>
          <a:off x="538844" y="1379083"/>
          <a:ext cx="6485756" cy="5435954"/>
        </p:xfrm>
        <a:graphic>
          <a:graphicData uri="http://schemas.openxmlformats.org/drawingml/2006/table">
            <a:tbl>
              <a:tblPr>
                <a:tableStyleId>{8EC20E35-A176-4012-BC5E-935CFFF8708E}</a:tableStyleId>
              </a:tblPr>
              <a:tblGrid>
                <a:gridCol w="6485756">
                  <a:extLst>
                    <a:ext uri="{9D8B030D-6E8A-4147-A177-3AD203B41FA5}">
                      <a16:colId xmlns:a16="http://schemas.microsoft.com/office/drawing/2014/main" val="2263919154"/>
                    </a:ext>
                  </a:extLst>
                </a:gridCol>
              </a:tblGrid>
              <a:tr h="5167196">
                <a:tc>
                  <a:txBody>
                    <a:bodyPr/>
                    <a:lstStyle/>
                    <a:p>
                      <a:pPr fontAlgn="t">
                        <a:lnSpc>
                          <a:spcPts val="1500"/>
                        </a:lnSpc>
                        <a:buNone/>
                      </a:pPr>
                      <a:r>
                        <a:rPr lang="en-US" sz="1200" b="1" dirty="0">
                          <a:effectLst/>
                        </a:rPr>
                        <a:t>Insights</a:t>
                      </a:r>
                    </a:p>
                    <a:p>
                      <a:pPr fontAlgn="t">
                        <a:lnSpc>
                          <a:spcPts val="1500"/>
                        </a:lnSpc>
                        <a:buNone/>
                      </a:pPr>
                      <a:r>
                        <a:rPr lang="en-US" sz="1200" b="1" dirty="0">
                          <a:effectLst/>
                        </a:rPr>
                        <a:t>Question 7</a:t>
                      </a:r>
                    </a:p>
                    <a:p>
                      <a:r>
                        <a:rPr lang="en-US" sz="1800" b="0" i="0" kern="1200" dirty="0">
                          <a:solidFill>
                            <a:schemeClr val="dk1"/>
                          </a:solidFill>
                          <a:effectLst/>
                          <a:latin typeface="+mn-lt"/>
                          <a:ea typeface="+mn-ea"/>
                          <a:cs typeface="+mn-cs"/>
                        </a:rPr>
                        <a:t>Insights: “Highly reviewed products are mainly everyday essentials, electronics, and personal care items, showing strong customer engagement. Categories such as Home Décor, Makeup, and Foot &amp; Hand Care dominate total reviews, indicating concentrated demand. Overall, popularity is driven more by usefulness and appeal than price, reflecting a long-tail pattern of engagement across categories.”</a:t>
                      </a:r>
                    </a:p>
                    <a:p>
                      <a:endParaRPr lang="en-US" sz="1800" b="0" i="0" kern="1200" dirty="0">
                        <a:solidFill>
                          <a:schemeClr val="dk1"/>
                        </a:solidFill>
                        <a:effectLst/>
                        <a:latin typeface="+mn-lt"/>
                        <a:ea typeface="+mn-ea"/>
                        <a:cs typeface="+mn-cs"/>
                      </a:endParaRPr>
                    </a:p>
                    <a:p>
                      <a:r>
                        <a:rPr lang="en-US" sz="1800" b="1" i="0" kern="1200" dirty="0">
                          <a:solidFill>
                            <a:schemeClr val="dk1"/>
                          </a:solidFill>
                          <a:effectLst/>
                          <a:latin typeface="+mn-lt"/>
                          <a:ea typeface="+mn-ea"/>
                          <a:cs typeface="+mn-cs"/>
                        </a:rPr>
                        <a:t>Question 8</a:t>
                      </a:r>
                    </a:p>
                    <a:p>
                      <a:r>
                        <a:rPr lang="en-US" sz="1800" b="0" i="0" kern="1200" dirty="0">
                          <a:solidFill>
                            <a:schemeClr val="dk1"/>
                          </a:solidFill>
                          <a:effectLst/>
                          <a:latin typeface="+mn-lt"/>
                          <a:ea typeface="+mn-ea"/>
                          <a:cs typeface="+mn-cs"/>
                        </a:rPr>
                        <a:t>Insights: This analysis reveals that product quality, popularity and price do not always align, highlighting hidden high-quality products, popular but mediocre items and premium offerings that require better market visibility.</a:t>
                      </a:r>
                    </a:p>
                    <a:p>
                      <a:endParaRPr lang="en-US" sz="1800" b="1" i="0" kern="1200" dirty="0">
                        <a:solidFill>
                          <a:schemeClr val="dk1"/>
                        </a:solidFill>
                        <a:effectLst/>
                        <a:latin typeface="+mn-lt"/>
                        <a:ea typeface="+mn-ea"/>
                        <a:cs typeface="+mn-cs"/>
                      </a:endParaRPr>
                    </a:p>
                  </a:txBody>
                  <a:tcPr marL="59606" marR="59606" marT="29803" marB="29803"/>
                </a:tc>
                <a:extLst>
                  <a:ext uri="{0D108BD9-81ED-4DB2-BD59-A6C34878D82A}">
                    <a16:rowId xmlns:a16="http://schemas.microsoft.com/office/drawing/2014/main" val="210133792"/>
                  </a:ext>
                </a:extLst>
              </a:tr>
              <a:tr h="268758">
                <a:tc>
                  <a:txBody>
                    <a:bodyPr/>
                    <a:lstStyle/>
                    <a:p>
                      <a:endParaRPr lang="en-US" sz="1200" dirty="0"/>
                    </a:p>
                  </a:txBody>
                  <a:tcPr marL="59606" marR="59606" marT="29803" marB="29803"/>
                </a:tc>
                <a:extLst>
                  <a:ext uri="{0D108BD9-81ED-4DB2-BD59-A6C34878D82A}">
                    <a16:rowId xmlns:a16="http://schemas.microsoft.com/office/drawing/2014/main" val="4237614583"/>
                  </a:ext>
                </a:extLst>
              </a:tr>
            </a:tbl>
          </a:graphicData>
        </a:graphic>
      </p:graphicFrame>
    </p:spTree>
    <p:extLst>
      <p:ext uri="{BB962C8B-B14F-4D97-AF65-F5344CB8AC3E}">
        <p14:creationId xmlns:p14="http://schemas.microsoft.com/office/powerpoint/2010/main" val="3078067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699BC-51D5-7CFC-F68F-58FDC509B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6F8F5-9501-45B4-5C68-9BE87BAF8C5B}"/>
              </a:ext>
            </a:extLst>
          </p:cNvPr>
          <p:cNvSpPr>
            <a:spLocks noGrp="1"/>
          </p:cNvSpPr>
          <p:nvPr>
            <p:ph type="title"/>
          </p:nvPr>
        </p:nvSpPr>
        <p:spPr>
          <a:xfrm>
            <a:off x="6726578" y="685680"/>
            <a:ext cx="4203323" cy="3596201"/>
          </a:xfrm>
        </p:spPr>
        <p:txBody>
          <a:bodyPr vert="horz" lIns="91440" tIns="45720" rIns="91440" bIns="45720" rtlCol="0" anchor="b">
            <a:normAutofit/>
          </a:bodyPr>
          <a:lstStyle/>
          <a:p>
            <a:pPr algn="r"/>
            <a:r>
              <a:rPr lang="en-US" sz="3800" kern="1200">
                <a:solidFill>
                  <a:schemeClr val="bg1"/>
                </a:solidFill>
                <a:latin typeface="+mj-lt"/>
                <a:ea typeface="+mj-ea"/>
                <a:cs typeface="+mj-cs"/>
              </a:rPr>
              <a:t>9. Actionable recommendations can be made to sellers based on pricing, discounts, and category focus</a:t>
            </a:r>
          </a:p>
        </p:txBody>
      </p:sp>
      <p:graphicFrame>
        <p:nvGraphicFramePr>
          <p:cNvPr id="4" name="Content Placeholder 3">
            <a:extLst>
              <a:ext uri="{FF2B5EF4-FFF2-40B4-BE49-F238E27FC236}">
                <a16:creationId xmlns:a16="http://schemas.microsoft.com/office/drawing/2014/main" id="{1E927147-5141-39E0-E990-7AD306F66882}"/>
              </a:ext>
            </a:extLst>
          </p:cNvPr>
          <p:cNvGraphicFramePr>
            <a:graphicFrameLocks noGrp="1"/>
          </p:cNvGraphicFramePr>
          <p:nvPr>
            <p:ph idx="1"/>
          </p:nvPr>
        </p:nvGraphicFramePr>
        <p:xfrm>
          <a:off x="538844" y="1379083"/>
          <a:ext cx="6485756" cy="5435954"/>
        </p:xfrm>
        <a:graphic>
          <a:graphicData uri="http://schemas.openxmlformats.org/drawingml/2006/table">
            <a:tbl>
              <a:tblPr>
                <a:tableStyleId>{8EC20E35-A176-4012-BC5E-935CFFF8708E}</a:tableStyleId>
              </a:tblPr>
              <a:tblGrid>
                <a:gridCol w="6485756">
                  <a:extLst>
                    <a:ext uri="{9D8B030D-6E8A-4147-A177-3AD203B41FA5}">
                      <a16:colId xmlns:a16="http://schemas.microsoft.com/office/drawing/2014/main" val="2263919154"/>
                    </a:ext>
                  </a:extLst>
                </a:gridCol>
              </a:tblGrid>
              <a:tr h="5167196">
                <a:tc>
                  <a:txBody>
                    <a:bodyPr/>
                    <a:lstStyle/>
                    <a:p>
                      <a:pPr fontAlgn="t">
                        <a:lnSpc>
                          <a:spcPts val="1500"/>
                        </a:lnSpc>
                        <a:buNone/>
                      </a:pPr>
                      <a:r>
                        <a:rPr lang="en-US" sz="1200" b="1" dirty="0">
                          <a:effectLst/>
                        </a:rPr>
                        <a:t>Insights</a:t>
                      </a:r>
                    </a:p>
                    <a:p>
                      <a:pPr fontAlgn="t">
                        <a:lnSpc>
                          <a:spcPts val="1500"/>
                        </a:lnSpc>
                        <a:buNone/>
                      </a:pPr>
                      <a:r>
                        <a:rPr lang="en-US" sz="1800" b="1" i="0" kern="1200" dirty="0">
                          <a:solidFill>
                            <a:schemeClr val="dk1"/>
                          </a:solidFill>
                          <a:effectLst/>
                          <a:latin typeface="+mn-lt"/>
                          <a:ea typeface="+mn-ea"/>
                          <a:cs typeface="+mn-cs"/>
                        </a:rPr>
                        <a:t>Question 9</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Insight: The combined performance metric reveals that high-priced premium electronics dominate overall rankings, indicating that revenue potential outweighs popularity and even perfect customer ratings in determining top-performing products.</a:t>
                      </a:r>
                    </a:p>
                    <a:p>
                      <a:endParaRPr lang="en-US" sz="1800" b="1" i="0" kern="1200" dirty="0">
                        <a:solidFill>
                          <a:schemeClr val="dk1"/>
                        </a:solidFill>
                        <a:effectLst/>
                        <a:latin typeface="+mn-lt"/>
                        <a:ea typeface="+mn-ea"/>
                        <a:cs typeface="+mn-cs"/>
                      </a:endParaRPr>
                    </a:p>
                  </a:txBody>
                  <a:tcPr marL="59606" marR="59606" marT="29803" marB="29803"/>
                </a:tc>
                <a:extLst>
                  <a:ext uri="{0D108BD9-81ED-4DB2-BD59-A6C34878D82A}">
                    <a16:rowId xmlns:a16="http://schemas.microsoft.com/office/drawing/2014/main" val="210133792"/>
                  </a:ext>
                </a:extLst>
              </a:tr>
              <a:tr h="268758">
                <a:tc>
                  <a:txBody>
                    <a:bodyPr/>
                    <a:lstStyle/>
                    <a:p>
                      <a:endParaRPr lang="en-US" sz="1200" dirty="0"/>
                    </a:p>
                  </a:txBody>
                  <a:tcPr marL="59606" marR="59606" marT="29803" marB="29803"/>
                </a:tc>
                <a:extLst>
                  <a:ext uri="{0D108BD9-81ED-4DB2-BD59-A6C34878D82A}">
                    <a16:rowId xmlns:a16="http://schemas.microsoft.com/office/drawing/2014/main" val="4237614583"/>
                  </a:ext>
                </a:extLst>
              </a:tr>
            </a:tbl>
          </a:graphicData>
        </a:graphic>
      </p:graphicFrame>
    </p:spTree>
    <p:extLst>
      <p:ext uri="{BB962C8B-B14F-4D97-AF65-F5344CB8AC3E}">
        <p14:creationId xmlns:p14="http://schemas.microsoft.com/office/powerpoint/2010/main" val="785658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76EC03-EE3D-4B32-4D31-7BABEB82FA1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C872F5B-D033-C70B-3D0A-1DC218C29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625AD34-D2A8-C8D2-8DE1-A000CB92D7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443428FE-F2CA-5390-395B-E61A4BB8A7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4" name="Oval 13">
              <a:extLst>
                <a:ext uri="{FF2B5EF4-FFF2-40B4-BE49-F238E27FC236}">
                  <a16:creationId xmlns:a16="http://schemas.microsoft.com/office/drawing/2014/main" id="{9EE8AFB7-67C3-EE24-258F-1039587A50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7B22838C-8280-20DA-2540-F11F7084D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8C004F2-469F-DEC1-148A-CB8ED32A20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D1063324-6EDE-6BC6-3CB2-2ED1838CA2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A7D3EB0F-4844-5D47-959E-75C2617BF5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08998D4-4DFA-3647-B8F6-109270644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C9D86631-4733-B9F4-5FA3-F03ED003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BA966A-63A4-110E-5C1C-EEAC4376EA4B}"/>
              </a:ext>
            </a:extLst>
          </p:cNvPr>
          <p:cNvSpPr>
            <a:spLocks noGrp="1"/>
          </p:cNvSpPr>
          <p:nvPr>
            <p:ph type="title"/>
          </p:nvPr>
        </p:nvSpPr>
        <p:spPr>
          <a:xfrm>
            <a:off x="30829" y="33945"/>
            <a:ext cx="11339316" cy="1213359"/>
          </a:xfrm>
          <a:noFill/>
        </p:spPr>
        <p:txBody>
          <a:bodyPr vert="horz" lIns="91440" tIns="45720" rIns="91440" bIns="45720" rtlCol="0" anchor="t">
            <a:normAutofit/>
          </a:bodyPr>
          <a:lstStyle/>
          <a:p>
            <a:r>
              <a:rPr lang="en-US" sz="3600" dirty="0">
                <a:solidFill>
                  <a:schemeClr val="bg1"/>
                </a:solidFill>
              </a:rPr>
              <a:t>Conclusions</a:t>
            </a:r>
            <a:endParaRPr lang="en-US" sz="3700" kern="1200" dirty="0">
              <a:solidFill>
                <a:schemeClr val="bg1"/>
              </a:solidFill>
              <a:latin typeface="+mj-lt"/>
              <a:ea typeface="+mj-ea"/>
              <a:cs typeface="+mj-cs"/>
            </a:endParaRPr>
          </a:p>
        </p:txBody>
      </p:sp>
      <p:sp>
        <p:nvSpPr>
          <p:cNvPr id="23" name="Rectangle 22">
            <a:extLst>
              <a:ext uri="{FF2B5EF4-FFF2-40B4-BE49-F238E27FC236}">
                <a16:creationId xmlns:a16="http://schemas.microsoft.com/office/drawing/2014/main" id="{B3C0AC3C-B4FF-9E11-E3C2-9002D37087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60E2F800-052B-DCA6-A993-E32D376E02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6" name="Straight Connector 25">
              <a:extLst>
                <a:ext uri="{FF2B5EF4-FFF2-40B4-BE49-F238E27FC236}">
                  <a16:creationId xmlns:a16="http://schemas.microsoft.com/office/drawing/2014/main" id="{111C156C-7FED-B72C-B128-22A0212E15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3B7BE2F-2F84-357B-3AB1-8E148B313F4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CFC803-861B-15DC-3707-BEF8419464E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BA7A772D-23C3-65D8-3DA3-35F21859FEB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6A7B84E9-B836-BA80-CD79-FBE04B0BA8C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2" name="Straight Connector 31">
              <a:extLst>
                <a:ext uri="{FF2B5EF4-FFF2-40B4-BE49-F238E27FC236}">
                  <a16:creationId xmlns:a16="http://schemas.microsoft.com/office/drawing/2014/main" id="{39507690-C975-F8C9-01D2-078F762D155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122D86A-AC87-0535-F37E-4E0D561C82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B6846EA-2353-9DFE-2ACD-6C1DC27B613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9FFCB3F-3D4D-5373-B18F-5E111705B5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37" name="Group 36">
            <a:extLst>
              <a:ext uri="{FF2B5EF4-FFF2-40B4-BE49-F238E27FC236}">
                <a16:creationId xmlns:a16="http://schemas.microsoft.com/office/drawing/2014/main" id="{D9235BE2-2D11-4C69-3E9B-A9BD5D55A2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38" name="Straight Connector 37">
              <a:extLst>
                <a:ext uri="{FF2B5EF4-FFF2-40B4-BE49-F238E27FC236}">
                  <a16:creationId xmlns:a16="http://schemas.microsoft.com/office/drawing/2014/main" id="{87748581-43E8-64E6-C491-EF098F9539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5DC00C4-D5B6-D50E-DE39-562D757C7B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EA72ACD-0DEC-A3DC-4022-734BBA35070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81B9872-501A-DD67-324C-5886EA0F029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Content Placeholder 4">
            <a:extLst>
              <a:ext uri="{FF2B5EF4-FFF2-40B4-BE49-F238E27FC236}">
                <a16:creationId xmlns:a16="http://schemas.microsoft.com/office/drawing/2014/main" id="{F6461B9F-3931-87FC-019C-93E170ED95EE}"/>
              </a:ext>
            </a:extLst>
          </p:cNvPr>
          <p:cNvSpPr>
            <a:spLocks noGrp="1"/>
          </p:cNvSpPr>
          <p:nvPr>
            <p:ph idx="1"/>
          </p:nvPr>
        </p:nvSpPr>
        <p:spPr>
          <a:xfrm>
            <a:off x="242293" y="965055"/>
            <a:ext cx="10515600" cy="4351338"/>
          </a:xfrm>
        </p:spPr>
        <p:txBody>
          <a:bodyPr/>
          <a:lstStyle/>
          <a:p>
            <a:pPr marL="0" indent="0" fontAlgn="t">
              <a:lnSpc>
                <a:spcPts val="1500"/>
              </a:lnSpc>
              <a:buNone/>
            </a:pPr>
            <a:endParaRPr lang="en-US" dirty="0">
              <a:solidFill>
                <a:schemeClr val="bg1"/>
              </a:solidFill>
            </a:endParaRPr>
          </a:p>
          <a:p>
            <a:pPr fontAlgn="t">
              <a:lnSpc>
                <a:spcPts val="1500"/>
              </a:lnSpc>
              <a:buNone/>
            </a:pPr>
            <a:r>
              <a:rPr lang="en-US" b="1" dirty="0">
                <a:solidFill>
                  <a:schemeClr val="bg1"/>
                </a:solidFill>
              </a:rPr>
              <a:t>General Advice:</a:t>
            </a:r>
            <a:endParaRPr lang="en-US" dirty="0">
              <a:solidFill>
                <a:schemeClr val="bg1"/>
              </a:solidFill>
            </a:endParaRPr>
          </a:p>
          <a:p>
            <a:pPr fontAlgn="t">
              <a:lnSpc>
                <a:spcPts val="1500"/>
              </a:lnSpc>
            </a:pPr>
            <a:r>
              <a:rPr lang="en-US" dirty="0">
                <a:solidFill>
                  <a:schemeClr val="bg1"/>
                </a:solidFill>
              </a:rPr>
              <a:t>Prioritize product quality and customer satisfaction over price alone.</a:t>
            </a:r>
          </a:p>
          <a:p>
            <a:pPr fontAlgn="t">
              <a:lnSpc>
                <a:spcPts val="1500"/>
              </a:lnSpc>
            </a:pPr>
            <a:r>
              <a:rPr lang="en-US" dirty="0">
                <a:solidFill>
                  <a:schemeClr val="bg1"/>
                </a:solidFill>
              </a:rPr>
              <a:t>Monitor and respond to customer feedback to improve ratings and reviews.</a:t>
            </a:r>
          </a:p>
          <a:p>
            <a:pPr fontAlgn="t">
              <a:lnSpc>
                <a:spcPts val="1500"/>
              </a:lnSpc>
            </a:pPr>
            <a:r>
              <a:rPr lang="en-US" dirty="0">
                <a:solidFill>
                  <a:schemeClr val="bg1"/>
                </a:solidFill>
              </a:rPr>
              <a:t>Benchmark against top-performing products and categories to refine your strategy.</a:t>
            </a:r>
          </a:p>
        </p:txBody>
      </p:sp>
    </p:spTree>
    <p:extLst>
      <p:ext uri="{BB962C8B-B14F-4D97-AF65-F5344CB8AC3E}">
        <p14:creationId xmlns:p14="http://schemas.microsoft.com/office/powerpoint/2010/main" val="2068976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TotalTime>
  <Words>1070</Words>
  <Application>Microsoft Office PowerPoint</Application>
  <PresentationFormat>Widescreen</PresentationFormat>
  <Paragraphs>86</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Display</vt:lpstr>
      <vt:lpstr>Arial</vt:lpstr>
      <vt:lpstr>Calibri</vt:lpstr>
      <vt:lpstr>Segoe UI</vt:lpstr>
      <vt:lpstr>Times New Roman</vt:lpstr>
      <vt:lpstr>Office Theme</vt:lpstr>
      <vt:lpstr>Group 1</vt:lpstr>
      <vt:lpstr>Assignment Brief</vt:lpstr>
      <vt:lpstr>1. Major product categories on Amazon and number of per category</vt:lpstr>
      <vt:lpstr>2. Distribution of product prices by category (low-cost, mid-range, or premium) </vt:lpstr>
      <vt:lpstr>3. Highest average prices and Cheapest</vt:lpstr>
      <vt:lpstr>4. Customer ratings across product categories</vt:lpstr>
      <vt:lpstr>5. Relationship between product price and customer rating</vt:lpstr>
      <vt:lpstr>6. Effect of discount on customer ratings</vt:lpstr>
      <vt:lpstr>7. Products and categories with highest number of reviews and implications on demand?  </vt:lpstr>
      <vt:lpstr>7. Products and categories with highest number of reviews and implications on demand?  </vt:lpstr>
      <vt:lpstr>8. Review and Prices of high rated products </vt:lpstr>
      <vt:lpstr>8. Review and Prices of high rated products </vt:lpstr>
      <vt:lpstr>8. Review and Prices of high rated products </vt:lpstr>
      <vt:lpstr>Actionable recommendations For Sellers: </vt:lpstr>
      <vt:lpstr>8. Review and Prices of high rated products </vt:lpstr>
      <vt:lpstr>9. Top-performing products based on stars, reviews, and price</vt:lpstr>
      <vt:lpstr>9. Actionable recommendations can be made to sellers based on pricing, discounts, and category focus</vt:lpstr>
      <vt:lpstr>9. Actionable recommendations can be made to sellers based on pricing, discounts, and category focus</vt:lpstr>
      <vt:lpstr>9. Actionable recommendations can be made to sellers based on pricing, discounts, and category focus</vt:lpstr>
      <vt:lpstr>9. Actionable recommendations can be made to sellers based on pricing, discounts, and category focus</vt:lpstr>
      <vt:lpstr>9. Actionable recommendations can be made to sellers based on pricing, discounts, and category focus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Salih Salih</dc:creator>
  <cp:lastModifiedBy>Salih Salih</cp:lastModifiedBy>
  <cp:revision>5</cp:revision>
  <dcterms:created xsi:type="dcterms:W3CDTF">2026-01-29T10:24:36Z</dcterms:created>
  <dcterms:modified xsi:type="dcterms:W3CDTF">2026-01-29T16:25:14Z</dcterms:modified>
</cp:coreProperties>
</file>